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4" userDrawn="1">
          <p15:clr>
            <a:srgbClr val="A4A3A4"/>
          </p15:clr>
        </p15:guide>
        <p15:guide id="2" pos="29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084"/>
        <p:guide pos="29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20.png"/><Relationship Id="rId11" Type="http://schemas.openxmlformats.org/officeDocument/2006/relationships/image" Target="../media/image19.png"/><Relationship Id="rId10" Type="http://schemas.openxmlformats.org/officeDocument/2006/relationships/image" Target="../media/image18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6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image" Target="../media/image27.png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0" Type="http://schemas.openxmlformats.org/officeDocument/2006/relationships/slideLayout" Target="../slideLayouts/slideLayout7.xml"/><Relationship Id="rId3" Type="http://schemas.openxmlformats.org/officeDocument/2006/relationships/tags" Target="../tags/tag1.xml"/><Relationship Id="rId29" Type="http://schemas.openxmlformats.org/officeDocument/2006/relationships/image" Target="../media/image32.png"/><Relationship Id="rId28" Type="http://schemas.openxmlformats.org/officeDocument/2006/relationships/image" Target="../media/image31.png"/><Relationship Id="rId27" Type="http://schemas.openxmlformats.org/officeDocument/2006/relationships/tags" Target="../tags/tag21.xml"/><Relationship Id="rId26" Type="http://schemas.openxmlformats.org/officeDocument/2006/relationships/tags" Target="../tags/tag20.xml"/><Relationship Id="rId25" Type="http://schemas.openxmlformats.org/officeDocument/2006/relationships/tags" Target="../tags/tag19.xml"/><Relationship Id="rId24" Type="http://schemas.openxmlformats.org/officeDocument/2006/relationships/tags" Target="../tags/tag18.xml"/><Relationship Id="rId23" Type="http://schemas.openxmlformats.org/officeDocument/2006/relationships/image" Target="../media/image30.png"/><Relationship Id="rId22" Type="http://schemas.openxmlformats.org/officeDocument/2006/relationships/tags" Target="../tags/tag17.xml"/><Relationship Id="rId21" Type="http://schemas.openxmlformats.org/officeDocument/2006/relationships/tags" Target="../tags/tag16.xml"/><Relationship Id="rId20" Type="http://schemas.openxmlformats.org/officeDocument/2006/relationships/tags" Target="../tags/tag15.xml"/><Relationship Id="rId2" Type="http://schemas.openxmlformats.org/officeDocument/2006/relationships/image" Target="../media/image22.png"/><Relationship Id="rId19" Type="http://schemas.openxmlformats.org/officeDocument/2006/relationships/tags" Target="../tags/tag14.xml"/><Relationship Id="rId18" Type="http://schemas.openxmlformats.org/officeDocument/2006/relationships/tags" Target="../tags/tag13.xml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image" Target="../media/image29.png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png"/><Relationship Id="rId8" Type="http://schemas.openxmlformats.org/officeDocument/2006/relationships/image" Target="../media/image31.png"/><Relationship Id="rId7" Type="http://schemas.openxmlformats.org/officeDocument/2006/relationships/image" Target="../media/image37.png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5.png"/><Relationship Id="rId2" Type="http://schemas.openxmlformats.org/officeDocument/2006/relationships/image" Target="../media/image22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5.png"/><Relationship Id="rId3" Type="http://schemas.openxmlformats.org/officeDocument/2006/relationships/image" Target="../media/image22.png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47.png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3" Type="http://schemas.openxmlformats.org/officeDocument/2006/relationships/image" Target="../media/image49.png"/><Relationship Id="rId2" Type="http://schemas.openxmlformats.org/officeDocument/2006/relationships/image" Target="../media/image42.png"/><Relationship Id="rId1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272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2971" y="1333500"/>
            <a:ext cx="9905752" cy="1371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680"/>
              </a:lnSpc>
              <a:spcBef>
                <a:spcPts val="0"/>
              </a:spcBef>
              <a:spcAft>
                <a:spcPts val="1300"/>
              </a:spcAft>
            </a:pPr>
            <a:r>
              <a:rPr sz="3590" b="1">
                <a:solidFill>
                  <a:srgbClr val="FFFFFF"/>
                </a:solidFill>
              </a:rPr>
              <a:t>Improving Cost Estimation and Project Planning</a:t>
            </a:r>
            <a:endParaRPr sz="359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85982" y="2895600"/>
            <a:ext cx="682925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900"/>
              </a:spcAft>
            </a:pPr>
            <a:r>
              <a:rPr sz="1675" b="0">
                <a:solidFill>
                  <a:srgbClr val="F0E6D8"/>
                </a:solidFill>
              </a:rPr>
              <a:t>A Data-Driven Approach for Contract-Based Furniture Projects</a:t>
            </a:r>
            <a:endParaRPr sz="1675" b="0">
              <a:solidFill>
                <a:srgbClr val="F0E6D8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19609" y="4095749"/>
            <a:ext cx="952476" cy="38100"/>
          </a:xfrm>
          <a:prstGeom prst="rect">
            <a:avLst/>
          </a:prstGeom>
          <a:solidFill>
            <a:srgbClr val="D9B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60570" y="4267835"/>
            <a:ext cx="3069590" cy="496570"/>
          </a:xfrm>
          <a:prstGeom prst="rect">
            <a:avLst/>
          </a:prstGeom>
          <a:noFill/>
        </p:spPr>
        <p:txBody>
          <a:bodyPr wrap="none" lIns="73152" tIns="54864" rIns="73152" bIns="5486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500" b="1">
                <a:solidFill>
                  <a:srgbClr val="F0E6D8"/>
                </a:solidFill>
              </a:rPr>
              <a:t>THAKUR VISHALKUMAR </a:t>
            </a:r>
            <a:r>
              <a:rPr sz="1500" b="1">
                <a:solidFill>
                  <a:srgbClr val="F0E6D8"/>
                </a:solidFill>
              </a:rPr>
              <a:t>VINOD</a:t>
            </a:r>
            <a:endParaRPr sz="1500" b="1">
              <a:solidFill>
                <a:srgbClr val="F0E6D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733806" y="5898515"/>
            <a:ext cx="2724081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F0E6D8"/>
                </a:solidFill>
              </a:rPr>
              <a:t>IITM Online BS Degree Program</a:t>
            </a:r>
            <a:endParaRPr sz="1075" b="0">
              <a:solidFill>
                <a:srgbClr val="F0E6D8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33806" y="6117590"/>
            <a:ext cx="2724081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F0E6D8"/>
                </a:solidFill>
              </a:rPr>
              <a:t>Indian Institute of Technology, Madras</a:t>
            </a:r>
            <a:endParaRPr sz="1075" b="0">
              <a:solidFill>
                <a:srgbClr val="F0E6D8"/>
              </a:solidFill>
            </a:endParaRPr>
          </a:p>
        </p:txBody>
      </p:sp>
      <p:pic>
        <p:nvPicPr>
          <p:cNvPr id="9" name="Picture 8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640" y="4711065"/>
            <a:ext cx="1187450" cy="1187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" name="TextBox 2"/>
          <p:cNvSpPr txBox="1"/>
          <p:nvPr/>
        </p:nvSpPr>
        <p:spPr>
          <a:xfrm>
            <a:off x="666733" y="333691"/>
            <a:ext cx="4477385" cy="57086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lang="en-IN" sz="3000" b="1">
                <a:solidFill>
                  <a:srgbClr val="FFFFFF"/>
                </a:solidFill>
              </a:rPr>
              <a:t>Slide 2: </a:t>
            </a:r>
            <a:r>
              <a:rPr sz="3000" b="1">
                <a:solidFill>
                  <a:srgbClr val="FFFFFF"/>
                </a:solidFill>
              </a:rPr>
              <a:t>Executive Summary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66733" y="1406525"/>
            <a:ext cx="172148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500" b="1">
                <a:solidFill>
                  <a:srgbClr val="3E2723"/>
                </a:solidFill>
              </a:rPr>
              <a:t> </a:t>
            </a:r>
            <a:r>
              <a:rPr sz="1500"/>
              <a:t>  </a:t>
            </a:r>
            <a:r>
              <a:rPr sz="1500" b="1">
                <a:solidFill>
                  <a:srgbClr val="3E2723"/>
                </a:solidFill>
              </a:rPr>
              <a:t> Project Overview </a:t>
            </a:r>
            <a:endParaRPr sz="1500" b="1">
              <a:solidFill>
                <a:srgbClr val="3E2723"/>
              </a:solidFill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>
            <a:alphaModFix amt="100000"/>
          </a:blip>
          <a:stretch>
            <a:fillRect/>
          </a:stretch>
        </p:blipFill>
        <p:spPr>
          <a:xfrm>
            <a:off x="666733" y="1492567"/>
            <a:ext cx="228594" cy="17716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914525"/>
            <a:ext cx="190495" cy="952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2476" y="1829116"/>
            <a:ext cx="4521835" cy="34226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</a:rPr>
              <a:t>Data-driven approach for </a:t>
            </a:r>
            <a:r>
              <a:rPr sz="1500" b="1">
                <a:solidFill>
                  <a:srgbClr val="5D4037"/>
                </a:solidFill>
              </a:rPr>
              <a:t>The Furniture Master Interiors</a:t>
            </a:r>
            <a:endParaRPr sz="1500" b="1">
              <a:solidFill>
                <a:srgbClr val="5D4037"/>
              </a:solidFill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295525"/>
            <a:ext cx="190495" cy="952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2476" y="2210116"/>
            <a:ext cx="3931920" cy="34226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</a:rPr>
              <a:t>Analysis of </a:t>
            </a:r>
            <a:r>
              <a:rPr sz="1500" b="1">
                <a:solidFill>
                  <a:srgbClr val="5D4037"/>
                </a:solidFill>
              </a:rPr>
              <a:t>25 completed projects</a:t>
            </a:r>
            <a:r>
              <a:rPr sz="1500" b="0">
                <a:solidFill>
                  <a:srgbClr val="333333"/>
                </a:solidFill>
              </a:rPr>
              <a:t> (Jan-Jun 2025)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676524"/>
            <a:ext cx="190495" cy="952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2476" y="2591117"/>
            <a:ext cx="4856480" cy="34226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</a:rPr>
              <a:t>Focus on cost estimation accuracy and timeline management</a:t>
            </a:r>
            <a:endParaRPr sz="1500" b="0">
              <a:solidFill>
                <a:srgbClr val="333333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6733" y="3111499"/>
            <a:ext cx="153860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500" b="1">
                <a:solidFill>
                  <a:srgbClr val="3E2723"/>
                </a:solidFill>
              </a:rPr>
              <a:t> </a:t>
            </a:r>
            <a:r>
              <a:rPr sz="1500"/>
              <a:t>  </a:t>
            </a:r>
            <a:r>
              <a:rPr sz="1500" b="1">
                <a:solidFill>
                  <a:srgbClr val="3E2723"/>
                </a:solidFill>
              </a:rPr>
              <a:t> Key Challenges </a:t>
            </a:r>
            <a:endParaRPr sz="1500" b="1">
              <a:solidFill>
                <a:srgbClr val="3E2723"/>
              </a:solidFill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3188017"/>
            <a:ext cx="228594" cy="177164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3619499"/>
            <a:ext cx="190495" cy="9524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52476" y="3534092"/>
            <a:ext cx="3759200" cy="34226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</a:rPr>
              <a:t>Systematic </a:t>
            </a:r>
            <a:r>
              <a:rPr sz="1500" b="1">
                <a:solidFill>
                  <a:srgbClr val="5D4037"/>
                </a:solidFill>
              </a:rPr>
              <a:t>cost underestimation</a:t>
            </a:r>
            <a:r>
              <a:rPr sz="1500" b="0">
                <a:solidFill>
                  <a:srgbClr val="333333"/>
                </a:solidFill>
              </a:rPr>
              <a:t> in quotations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4000500"/>
            <a:ext cx="190495" cy="9524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2476" y="3915091"/>
            <a:ext cx="3656330" cy="34226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</a:rPr>
              <a:t>Frequent </a:t>
            </a:r>
            <a:r>
              <a:rPr sz="1500" b="1">
                <a:solidFill>
                  <a:srgbClr val="5D4037"/>
                </a:solidFill>
              </a:rPr>
              <a:t>project delays</a:t>
            </a:r>
            <a:r>
              <a:rPr sz="1500" b="0">
                <a:solidFill>
                  <a:srgbClr val="333333"/>
                </a:solidFill>
              </a:rPr>
              <a:t> affecting profitability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4381499"/>
            <a:ext cx="190495" cy="9524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52476" y="4296092"/>
            <a:ext cx="4255135" cy="34226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</a:rPr>
              <a:t>Impact on customer satisfaction and business growth</a:t>
            </a:r>
            <a:endParaRPr sz="1500" b="0">
              <a:solidFill>
                <a:srgbClr val="333333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86342" y="1558924"/>
            <a:ext cx="140589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500" b="1">
                <a:solidFill>
                  <a:srgbClr val="3E2723"/>
                </a:solidFill>
              </a:rPr>
              <a:t> </a:t>
            </a:r>
            <a:r>
              <a:rPr sz="1500"/>
              <a:t>  </a:t>
            </a:r>
            <a:r>
              <a:rPr sz="1500" b="1">
                <a:solidFill>
                  <a:srgbClr val="3E2723"/>
                </a:solidFill>
              </a:rPr>
              <a:t> Project Goals </a:t>
            </a:r>
            <a:endParaRPr sz="1500" b="1">
              <a:solidFill>
                <a:srgbClr val="3E2723"/>
              </a:solidFill>
            </a:endParaRP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286342" y="1670685"/>
            <a:ext cx="228594" cy="125729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286342" y="2066924"/>
            <a:ext cx="190495" cy="9524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72085" y="1981516"/>
            <a:ext cx="3316605" cy="34226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</a:rPr>
              <a:t>Develop accurate cost estimation models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286342" y="2447924"/>
            <a:ext cx="190495" cy="9524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572085" y="2362517"/>
            <a:ext cx="3129915" cy="34226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</a:rPr>
              <a:t>Improve project timeline management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286342" y="2828925"/>
            <a:ext cx="190495" cy="9524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72085" y="2743517"/>
            <a:ext cx="3778250" cy="34226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</a:rPr>
              <a:t>Enhance profitability and customer satisfaction</a:t>
            </a:r>
            <a:endParaRPr sz="1500" b="0">
              <a:solidFill>
                <a:srgbClr val="333333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286342" y="3409950"/>
            <a:ext cx="5238619" cy="1314450"/>
          </a:xfrm>
          <a:prstGeom prst="roundRect">
            <a:avLst>
              <a:gd name="adj" fmla="val 5797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5695157" y="4001135"/>
            <a:ext cx="13144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D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0" name="TextBox 29"/>
          <p:cNvSpPr txBox="1"/>
          <p:nvPr/>
        </p:nvSpPr>
        <p:spPr>
          <a:xfrm>
            <a:off x="6514937" y="3540125"/>
            <a:ext cx="186436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500" b="1">
                <a:solidFill>
                  <a:srgbClr val="5D4037"/>
                </a:solidFill>
              </a:rPr>
              <a:t>Average Cost Overrun</a:t>
            </a:r>
            <a:endParaRPr sz="1500" b="1">
              <a:solidFill>
                <a:srgbClr val="5D4037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514937" y="3949699"/>
            <a:ext cx="62547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E2723"/>
                </a:solidFill>
              </a:rPr>
              <a:t>6.76%</a:t>
            </a:r>
            <a:endParaRPr sz="1500" b="1">
              <a:solidFill>
                <a:srgbClr val="3E2723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14937" y="4268787"/>
            <a:ext cx="332676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4037"/>
                </a:solidFill>
              </a:rPr>
              <a:t>Total impact: ₹944,491 across all projects</a:t>
            </a:r>
            <a:endParaRPr sz="1500" b="0">
              <a:solidFill>
                <a:srgbClr val="5D4037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286342" y="4914900"/>
            <a:ext cx="5238619" cy="1314450"/>
          </a:xfrm>
          <a:prstGeom prst="roundRect">
            <a:avLst>
              <a:gd name="adj" fmla="val 5797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4" name="Round Same Side Corner Rectangle 33"/>
          <p:cNvSpPr/>
          <p:nvPr/>
        </p:nvSpPr>
        <p:spPr>
          <a:xfrm rot="16200000">
            <a:off x="5695157" y="5506085"/>
            <a:ext cx="13144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D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5" name="TextBox 34"/>
          <p:cNvSpPr txBox="1"/>
          <p:nvPr/>
        </p:nvSpPr>
        <p:spPr>
          <a:xfrm>
            <a:off x="6514937" y="5045075"/>
            <a:ext cx="187134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500" b="1">
                <a:solidFill>
                  <a:srgbClr val="5D4037"/>
                </a:solidFill>
              </a:rPr>
              <a:t>Average Project Delay</a:t>
            </a:r>
            <a:endParaRPr sz="1500" b="1">
              <a:solidFill>
                <a:srgbClr val="5D4037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514937" y="5454649"/>
            <a:ext cx="79057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E2723"/>
                </a:solidFill>
              </a:rPr>
              <a:t>3.8 days</a:t>
            </a:r>
            <a:endParaRPr sz="1500" b="1">
              <a:solidFill>
                <a:srgbClr val="3E2723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514937" y="5773737"/>
            <a:ext cx="196596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4037"/>
                </a:solidFill>
              </a:rPr>
              <a:t>Maximum delay: 7 days</a:t>
            </a:r>
            <a:endParaRPr sz="1500" b="0">
              <a:solidFill>
                <a:srgbClr val="5D4037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" name="TextBox 2"/>
          <p:cNvSpPr txBox="1"/>
          <p:nvPr/>
        </p:nvSpPr>
        <p:spPr>
          <a:xfrm>
            <a:off x="666733" y="333691"/>
            <a:ext cx="4450080" cy="57086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lang="en-IN" sz="3000" b="1">
                <a:solidFill>
                  <a:srgbClr val="FFFFFF"/>
                </a:solidFill>
                <a:sym typeface="+mn-ea"/>
              </a:rPr>
              <a:t>Slide 3: </a:t>
            </a:r>
            <a:r>
              <a:rPr sz="3000" b="1">
                <a:solidFill>
                  <a:srgbClr val="FFFFFF"/>
                </a:solidFill>
              </a:rPr>
              <a:t>Problem Statement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66733" y="1428750"/>
            <a:ext cx="5238619" cy="5143500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5" name="Rounded Rectangle 4"/>
          <p:cNvSpPr/>
          <p:nvPr/>
        </p:nvSpPr>
        <p:spPr>
          <a:xfrm>
            <a:off x="904852" y="1666874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">
            <a:alphaModFix amt="100000"/>
          </a:blip>
          <a:stretch>
            <a:fillRect/>
          </a:stretch>
        </p:blipFill>
        <p:spPr>
          <a:xfrm>
            <a:off x="1038199" y="1835394"/>
            <a:ext cx="304792" cy="2344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19209" y="1787524"/>
            <a:ext cx="231965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E2723"/>
                </a:solidFill>
              </a:rPr>
              <a:t>Inaccurate Cost Estimations</a:t>
            </a:r>
            <a:endParaRPr sz="1500" b="1">
              <a:solidFill>
                <a:srgbClr val="3E2723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04852" y="2428875"/>
            <a:ext cx="2314517" cy="952499"/>
          </a:xfrm>
          <a:prstGeom prst="roundRect">
            <a:avLst>
              <a:gd name="adj" fmla="val 12000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9" name="TextBox 8"/>
          <p:cNvSpPr txBox="1"/>
          <p:nvPr/>
        </p:nvSpPr>
        <p:spPr>
          <a:xfrm>
            <a:off x="1749372" y="2616200"/>
            <a:ext cx="62547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500" b="1">
                <a:solidFill>
                  <a:srgbClr val="5D4037"/>
                </a:solidFill>
              </a:rPr>
              <a:t>6.76%</a:t>
            </a:r>
            <a:endParaRPr sz="1500" b="1">
              <a:solidFill>
                <a:srgbClr val="5D4037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7392" y="2973386"/>
            <a:ext cx="182943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4037"/>
                </a:solidFill>
              </a:rPr>
              <a:t>Average Cost Overrun</a:t>
            </a:r>
            <a:endParaRPr sz="1500" b="0">
              <a:solidFill>
                <a:srgbClr val="5D4037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352716" y="2428875"/>
            <a:ext cx="2314517" cy="952499"/>
          </a:xfrm>
          <a:prstGeom prst="roundRect">
            <a:avLst>
              <a:gd name="adj" fmla="val 12000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2" name="TextBox 11"/>
          <p:cNvSpPr txBox="1"/>
          <p:nvPr/>
        </p:nvSpPr>
        <p:spPr>
          <a:xfrm>
            <a:off x="4280422" y="2616200"/>
            <a:ext cx="47815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500" b="1">
                <a:solidFill>
                  <a:srgbClr val="5D4037"/>
                </a:solidFill>
              </a:rPr>
              <a:t>88%</a:t>
            </a:r>
            <a:endParaRPr sz="1500" b="1">
              <a:solidFill>
                <a:srgbClr val="5D4037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32722" y="2973386"/>
            <a:ext cx="177355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4037"/>
                </a:solidFill>
              </a:rPr>
              <a:t>Projects Over Budget</a:t>
            </a:r>
            <a:endParaRPr sz="1500" b="0">
              <a:solidFill>
                <a:srgbClr val="5D4037"/>
              </a:solidFill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04852" y="3619499"/>
            <a:ext cx="190495" cy="9524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90595" y="3532187"/>
            <a:ext cx="4279900" cy="317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D4037"/>
                </a:solidFill>
              </a:rPr>
              <a:t>₹944,491</a:t>
            </a:r>
            <a:r>
              <a:rPr sz="1500" b="0">
                <a:solidFill>
                  <a:srgbClr val="333333"/>
                </a:solidFill>
              </a:rPr>
              <a:t> total profit erosion across analyzed projects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04852" y="3971925"/>
            <a:ext cx="190495" cy="9524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90595" y="3884611"/>
            <a:ext cx="3467735" cy="317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</a:rPr>
              <a:t>Quoting process lacks </a:t>
            </a:r>
            <a:r>
              <a:rPr sz="1500" b="1">
                <a:solidFill>
                  <a:srgbClr val="5D4037"/>
                </a:solidFill>
              </a:rPr>
              <a:t>risk-adjusted pricing</a:t>
            </a:r>
            <a:endParaRPr sz="1500" b="1">
              <a:solidFill>
                <a:srgbClr val="5D4037"/>
              </a:solidFill>
            </a:endParaRP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04852" y="4324349"/>
            <a:ext cx="190495" cy="9524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90595" y="4234497"/>
            <a:ext cx="4592320" cy="5257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</a:rPr>
              <a:t>Direct impact on </a:t>
            </a:r>
            <a:r>
              <a:rPr sz="1500" b="1">
                <a:solidFill>
                  <a:srgbClr val="5D4037"/>
                </a:solidFill>
              </a:rPr>
              <a:t>profit margins</a:t>
            </a:r>
            <a:r>
              <a:rPr sz="1500" b="0">
                <a:solidFill>
                  <a:srgbClr val="333333"/>
                </a:solidFill>
              </a:rPr>
              <a:t> (40-68% reduction</a:t>
            </a:r>
            <a:r>
              <a:rPr lang="en-IN" sz="1500" b="0">
                <a:solidFill>
                  <a:srgbClr val="333333"/>
                </a:solidFill>
              </a:rPr>
              <a:t> in net </a:t>
            </a:r>
            <a:endParaRPr lang="en-IN" sz="1500" b="0">
              <a:solidFill>
                <a:srgbClr val="333333"/>
              </a:solidFill>
            </a:endParaRPr>
          </a:p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0">
                <a:solidFill>
                  <a:srgbClr val="333333"/>
                </a:solidFill>
              </a:rPr>
              <a:t>profitability</a:t>
            </a:r>
            <a:r>
              <a:rPr sz="1500" b="0">
                <a:solidFill>
                  <a:srgbClr val="333333"/>
                </a:solidFill>
              </a:rPr>
              <a:t>)</a:t>
            </a:r>
            <a:endParaRPr sz="1500" b="0">
              <a:solidFill>
                <a:srgbClr val="333333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86500" y="1428750"/>
            <a:ext cx="5420360" cy="5143500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1" name="Rounded Rectangle 20"/>
          <p:cNvSpPr/>
          <p:nvPr/>
        </p:nvSpPr>
        <p:spPr>
          <a:xfrm>
            <a:off x="6524461" y="1666874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57808" y="1823671"/>
            <a:ext cx="304792" cy="25790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238819" y="1787524"/>
            <a:ext cx="126746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E2723"/>
                </a:solidFill>
              </a:rPr>
              <a:t>Project Delays</a:t>
            </a:r>
            <a:endParaRPr sz="1500" b="1">
              <a:solidFill>
                <a:srgbClr val="3E2723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524461" y="2428875"/>
            <a:ext cx="2314517" cy="952499"/>
          </a:xfrm>
          <a:prstGeom prst="roundRect">
            <a:avLst>
              <a:gd name="adj" fmla="val 12000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5" name="TextBox 24"/>
          <p:cNvSpPr txBox="1"/>
          <p:nvPr/>
        </p:nvSpPr>
        <p:spPr>
          <a:xfrm>
            <a:off x="7486775" y="2616200"/>
            <a:ext cx="38989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500" b="1">
                <a:solidFill>
                  <a:srgbClr val="5D4037"/>
                </a:solidFill>
              </a:rPr>
              <a:t>3.8</a:t>
            </a:r>
            <a:endParaRPr sz="1500" b="1">
              <a:solidFill>
                <a:srgbClr val="5D4037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00340" y="2973386"/>
            <a:ext cx="176276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4037"/>
                </a:solidFill>
              </a:rPr>
              <a:t>Average Delay (Days)</a:t>
            </a:r>
            <a:endParaRPr sz="1500" b="0">
              <a:solidFill>
                <a:srgbClr val="5D4037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972325" y="2428875"/>
            <a:ext cx="2314517" cy="952499"/>
          </a:xfrm>
          <a:prstGeom prst="roundRect">
            <a:avLst>
              <a:gd name="adj" fmla="val 12000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8" name="TextBox 27"/>
          <p:cNvSpPr txBox="1"/>
          <p:nvPr/>
        </p:nvSpPr>
        <p:spPr>
          <a:xfrm>
            <a:off x="10017823" y="2616200"/>
            <a:ext cx="24257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500" b="1">
                <a:solidFill>
                  <a:srgbClr val="5D4037"/>
                </a:solidFill>
              </a:rPr>
              <a:t>7</a:t>
            </a:r>
            <a:endParaRPr sz="1500" b="1">
              <a:solidFill>
                <a:srgbClr val="5D4037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176448" y="2973386"/>
            <a:ext cx="192532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4037"/>
                </a:solidFill>
              </a:rPr>
              <a:t>Maximum Delay (Days)</a:t>
            </a:r>
            <a:endParaRPr sz="1500" b="0">
              <a:solidFill>
                <a:srgbClr val="5D4037"/>
              </a:solidFill>
            </a:endParaRP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524461" y="3619499"/>
            <a:ext cx="190495" cy="9524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810204" y="3532187"/>
            <a:ext cx="4359910" cy="317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D4037"/>
                </a:solidFill>
              </a:rPr>
              <a:t>Longer projects</a:t>
            </a:r>
            <a:r>
              <a:rPr sz="1500" b="0">
                <a:solidFill>
                  <a:srgbClr val="333333"/>
                </a:solidFill>
              </a:rPr>
              <a:t> accumulate more delay days (R²=0.86)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524461" y="3971925"/>
            <a:ext cx="190495" cy="9524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810204" y="3884611"/>
            <a:ext cx="4854575" cy="317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</a:rPr>
              <a:t>Main causes: </a:t>
            </a:r>
            <a:r>
              <a:rPr sz="1500" b="1">
                <a:solidFill>
                  <a:srgbClr val="5D4037"/>
                </a:solidFill>
              </a:rPr>
              <a:t>supplier delays</a:t>
            </a:r>
            <a:r>
              <a:rPr sz="1500" b="0">
                <a:solidFill>
                  <a:srgbClr val="333333"/>
                </a:solidFill>
              </a:rPr>
              <a:t>, client changes, labor shortages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524461" y="4324349"/>
            <a:ext cx="190495" cy="9524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810204" y="4251960"/>
            <a:ext cx="4476638" cy="5257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</a:rPr>
              <a:t>Direct impact on </a:t>
            </a:r>
            <a:r>
              <a:rPr sz="1500" b="1">
                <a:solidFill>
                  <a:srgbClr val="5D4037"/>
                </a:solidFill>
              </a:rPr>
              <a:t>customer satisfaction</a:t>
            </a:r>
            <a:r>
              <a:rPr sz="1500" b="0">
                <a:solidFill>
                  <a:srgbClr val="333333"/>
                </a:solidFill>
              </a:rPr>
              <a:t> and business reputation</a:t>
            </a:r>
            <a:endParaRPr sz="1500" b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" name="TextBox 2"/>
          <p:cNvSpPr txBox="1"/>
          <p:nvPr/>
        </p:nvSpPr>
        <p:spPr>
          <a:xfrm>
            <a:off x="666733" y="333691"/>
            <a:ext cx="3512185" cy="57086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lang="en-IN" sz="3000" b="1">
                <a:solidFill>
                  <a:srgbClr val="FFFFFF"/>
                </a:solidFill>
                <a:sym typeface="+mn-ea"/>
              </a:rPr>
              <a:t>Slide 4: </a:t>
            </a:r>
            <a:r>
              <a:rPr sz="3000" b="1">
                <a:solidFill>
                  <a:srgbClr val="FFFFFF"/>
                </a:solidFill>
              </a:rPr>
              <a:t>Methodology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66733" y="1428750"/>
            <a:ext cx="5286242" cy="371475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5" name="Rounded Rectangle 4"/>
          <p:cNvSpPr/>
          <p:nvPr/>
        </p:nvSpPr>
        <p:spPr>
          <a:xfrm>
            <a:off x="904852" y="166687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">
            <a:alphaModFix amt="100000"/>
          </a:blip>
          <a:stretch>
            <a:fillRect/>
          </a:stretch>
        </p:blipFill>
        <p:spPr>
          <a:xfrm>
            <a:off x="1009624" y="1809335"/>
            <a:ext cx="266693" cy="191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23961" y="1730374"/>
            <a:ext cx="135001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E2723"/>
                </a:solidFill>
              </a:rPr>
              <a:t>Data Collection</a:t>
            </a:r>
            <a:endParaRPr sz="1500" b="1">
              <a:solidFill>
                <a:srgbClr val="3E2723"/>
              </a:solidFill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04852" y="2339227"/>
            <a:ext cx="190495" cy="17929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90595" y="2293936"/>
            <a:ext cx="2548255" cy="317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D4037"/>
                </a:solidFill>
              </a:rPr>
              <a:t>6-month period</a:t>
            </a:r>
            <a:r>
              <a:rPr sz="1500" b="0">
                <a:solidFill>
                  <a:srgbClr val="333333"/>
                </a:solidFill>
              </a:rPr>
              <a:t> (Jan-Jun 2025)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04852" y="2739838"/>
            <a:ext cx="190495" cy="1400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90595" y="2674937"/>
            <a:ext cx="4007485" cy="317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D4037"/>
                </a:solidFill>
              </a:rPr>
              <a:t>25 completed projects</a:t>
            </a:r>
            <a:r>
              <a:rPr sz="1500" b="0">
                <a:solidFill>
                  <a:srgbClr val="333333"/>
                </a:solidFill>
              </a:rPr>
              <a:t> from The Furniture Master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04852" y="3109632"/>
            <a:ext cx="190495" cy="1624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90595" y="3055937"/>
            <a:ext cx="4458970" cy="317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</a:rPr>
              <a:t>Sources: quotations, purchase records, bills, site reports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04852" y="3494554"/>
            <a:ext cx="190495" cy="17369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90595" y="3446462"/>
            <a:ext cx="4281170" cy="317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</a:rPr>
              <a:t>Cross-verified with physical invoices and delivery slips</a:t>
            </a:r>
            <a:endParaRPr sz="1500" b="0">
              <a:solidFill>
                <a:srgbClr val="333333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38719" y="1428750"/>
            <a:ext cx="5286242" cy="371475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7" name="Rounded Rectangle 16"/>
          <p:cNvSpPr/>
          <p:nvPr/>
        </p:nvSpPr>
        <p:spPr>
          <a:xfrm>
            <a:off x="6476838" y="166687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81610" y="1800639"/>
            <a:ext cx="266693" cy="20872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95947" y="1730374"/>
            <a:ext cx="160020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E2723"/>
                </a:solidFill>
              </a:rPr>
              <a:t>Analysis Approach</a:t>
            </a:r>
            <a:endParaRPr sz="1500" b="1">
              <a:solidFill>
                <a:srgbClr val="3E2723"/>
              </a:solidFill>
            </a:endParaRP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76838" y="2339227"/>
            <a:ext cx="190495" cy="17929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762580" y="2293936"/>
            <a:ext cx="4351655" cy="317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D4037"/>
                </a:solidFill>
              </a:rPr>
              <a:t>Data cleaning</a:t>
            </a:r>
            <a:r>
              <a:rPr sz="1500" b="0">
                <a:solidFill>
                  <a:srgbClr val="333333"/>
                </a:solidFill>
              </a:rPr>
              <a:t>: standardizing units, correcting spellings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476838" y="2739838"/>
            <a:ext cx="190495" cy="14007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762580" y="2674937"/>
            <a:ext cx="4501515" cy="317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D4037"/>
                </a:solidFill>
              </a:rPr>
              <a:t>Descriptive statistics</a:t>
            </a:r>
            <a:r>
              <a:rPr sz="1500" b="0">
                <a:solidFill>
                  <a:srgbClr val="333333"/>
                </a:solidFill>
              </a:rPr>
              <a:t>: mean, median, standard deviation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76838" y="3116636"/>
            <a:ext cx="190495" cy="14847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762580" y="3055937"/>
            <a:ext cx="4245610" cy="317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D4037"/>
                </a:solidFill>
              </a:rPr>
              <a:t>Correlation analysis</a:t>
            </a:r>
            <a:r>
              <a:rPr sz="1500" b="0">
                <a:solidFill>
                  <a:srgbClr val="333333"/>
                </a:solidFill>
              </a:rPr>
              <a:t>: relationships between variables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76838" y="3528172"/>
            <a:ext cx="190495" cy="10645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762580" y="3446462"/>
            <a:ext cx="4143375" cy="317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D4037"/>
                </a:solidFill>
              </a:rPr>
              <a:t>Trend analysis</a:t>
            </a:r>
            <a:r>
              <a:rPr sz="1500" b="0">
                <a:solidFill>
                  <a:srgbClr val="333333"/>
                </a:solidFill>
              </a:rPr>
              <a:t>: patterns in cost overruns and delays</a:t>
            </a:r>
            <a:endParaRPr sz="1500" b="0">
              <a:solidFill>
                <a:srgbClr val="333333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66750" y="5619750"/>
            <a:ext cx="5286375" cy="952500"/>
          </a:xfrm>
          <a:prstGeom prst="roundRect">
            <a:avLst>
              <a:gd name="adj" fmla="val 16000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9" name="Rounded Rectangle 28"/>
          <p:cNvSpPr/>
          <p:nvPr/>
        </p:nvSpPr>
        <p:spPr>
          <a:xfrm>
            <a:off x="857228" y="5810249"/>
            <a:ext cx="571485" cy="57150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971525" y="5951154"/>
            <a:ext cx="342891" cy="28969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619209" y="5811837"/>
            <a:ext cx="123507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500" b="1">
                <a:solidFill>
                  <a:srgbClr val="3E2723"/>
                </a:solidFill>
              </a:rPr>
              <a:t>Excel Analysis</a:t>
            </a:r>
            <a:endParaRPr sz="1500" b="1">
              <a:solidFill>
                <a:srgbClr val="3E2723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619209" y="6067106"/>
            <a:ext cx="3714115" cy="57086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4037"/>
                </a:solidFill>
              </a:rPr>
              <a:t>PivotTables, charts, conditional formatting for </a:t>
            </a:r>
            <a:endParaRPr sz="1500" b="0">
              <a:solidFill>
                <a:srgbClr val="5D4037"/>
              </a:solidFill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4037"/>
                </a:solidFill>
              </a:rPr>
              <a:t>business insights</a:t>
            </a:r>
            <a:endParaRPr sz="1500" b="0">
              <a:solidFill>
                <a:srgbClr val="5D4037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238719" y="5619750"/>
            <a:ext cx="5286242" cy="952499"/>
          </a:xfrm>
          <a:prstGeom prst="roundRect">
            <a:avLst>
              <a:gd name="adj" fmla="val 16000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4" name="Rounded Rectangle 33"/>
          <p:cNvSpPr/>
          <p:nvPr/>
        </p:nvSpPr>
        <p:spPr>
          <a:xfrm>
            <a:off x="6381589" y="5810249"/>
            <a:ext cx="571485" cy="57150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476836" y="6004362"/>
            <a:ext cx="342891" cy="18327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191195" y="5811837"/>
            <a:ext cx="150876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500" b="1">
                <a:solidFill>
                  <a:srgbClr val="3E2723"/>
                </a:solidFill>
              </a:rPr>
              <a:t>Python Modeling</a:t>
            </a:r>
            <a:endParaRPr sz="1500" b="1">
              <a:solidFill>
                <a:srgbClr val="3E2723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191195" y="6078536"/>
            <a:ext cx="424180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4037"/>
                </a:solidFill>
              </a:rPr>
              <a:t>Regression models, statistical tests, data visualization</a:t>
            </a:r>
            <a:endParaRPr sz="1500" b="0">
              <a:solidFill>
                <a:srgbClr val="5D4037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" name="TextBox 2"/>
          <p:cNvSpPr txBox="1"/>
          <p:nvPr/>
        </p:nvSpPr>
        <p:spPr>
          <a:xfrm>
            <a:off x="666733" y="333691"/>
            <a:ext cx="5697220" cy="57086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lang="en-IN" sz="3000" b="1">
                <a:solidFill>
                  <a:srgbClr val="FFFFFF"/>
                </a:solidFill>
                <a:sym typeface="+mn-ea"/>
              </a:rPr>
              <a:t>Slide 5: </a:t>
            </a:r>
            <a:r>
              <a:rPr sz="3000" b="1">
                <a:solidFill>
                  <a:srgbClr val="FFFFFF"/>
                </a:solidFill>
              </a:rPr>
              <a:t>Key Findings - Cost Analysis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66733" y="1428750"/>
            <a:ext cx="5238619" cy="3857625"/>
          </a:xfrm>
          <a:prstGeom prst="roundRect">
            <a:avLst>
              <a:gd name="adj" fmla="val 395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5" name="TextBox 4"/>
          <p:cNvSpPr txBox="1"/>
          <p:nvPr/>
        </p:nvSpPr>
        <p:spPr>
          <a:xfrm>
            <a:off x="904852" y="1644649"/>
            <a:ext cx="215265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500" b="1">
                <a:solidFill>
                  <a:srgbClr val="3E2723"/>
                </a:solidFill>
              </a:rPr>
              <a:t> </a:t>
            </a:r>
            <a:r>
              <a:rPr sz="1500"/>
              <a:t>  </a:t>
            </a:r>
            <a:r>
              <a:rPr sz="1500" b="1">
                <a:solidFill>
                  <a:srgbClr val="3E2723"/>
                </a:solidFill>
              </a:rPr>
              <a:t> Quoted vs. Actual Cost </a:t>
            </a:r>
            <a:endParaRPr sz="1500" b="1">
              <a:solidFill>
                <a:srgbClr val="3E2723"/>
              </a:solidFill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">
            <a:alphaModFix amt="100000"/>
          </a:blip>
          <a:stretch>
            <a:fillRect/>
          </a:stretch>
        </p:blipFill>
        <p:spPr>
          <a:xfrm>
            <a:off x="904852" y="1738312"/>
            <a:ext cx="228594" cy="14287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6733" y="5524499"/>
            <a:ext cx="5238619" cy="1190625"/>
          </a:xfrm>
          <a:prstGeom prst="roundRect">
            <a:avLst>
              <a:gd name="adj" fmla="val 6400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137461" y="6053771"/>
            <a:ext cx="11906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D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0" name="TextBox 9"/>
          <p:cNvSpPr txBox="1"/>
          <p:nvPr/>
        </p:nvSpPr>
        <p:spPr>
          <a:xfrm>
            <a:off x="895327" y="5664200"/>
            <a:ext cx="122237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500" b="1">
                <a:solidFill>
                  <a:srgbClr val="5D4037"/>
                </a:solidFill>
              </a:rPr>
              <a:t> </a:t>
            </a:r>
            <a:r>
              <a:rPr sz="1500"/>
              <a:t>  </a:t>
            </a:r>
            <a:r>
              <a:rPr sz="1500" b="1">
                <a:solidFill>
                  <a:srgbClr val="5D4037"/>
                </a:solidFill>
              </a:rPr>
              <a:t> Key Insight </a:t>
            </a:r>
            <a:endParaRPr sz="1500" b="1">
              <a:solidFill>
                <a:srgbClr val="5D4037"/>
              </a:solidFill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5732144"/>
            <a:ext cx="228594" cy="1943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95327" y="6023610"/>
            <a:ext cx="4819529" cy="5257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</a:rPr>
              <a:t> Only </a:t>
            </a:r>
            <a:r>
              <a:rPr sz="1500" b="1">
                <a:solidFill>
                  <a:srgbClr val="5D4037"/>
                </a:solidFill>
              </a:rPr>
              <a:t>3 projects (12%)</a:t>
            </a:r>
            <a:r>
              <a:rPr sz="1500" b="0">
                <a:solidFill>
                  <a:srgbClr val="333333"/>
                </a:solidFill>
              </a:rPr>
              <a:t> stayed within budget, while </a:t>
            </a:r>
            <a:r>
              <a:rPr sz="1500" b="1">
                <a:solidFill>
                  <a:srgbClr val="5D4037"/>
                </a:solidFill>
              </a:rPr>
              <a:t>22 projects (88%)</a:t>
            </a:r>
            <a:r>
              <a:rPr sz="1500" b="0">
                <a:solidFill>
                  <a:srgbClr val="333333"/>
                </a:solidFill>
              </a:rPr>
              <a:t> exceeded quoted costs </a:t>
            </a:r>
            <a:endParaRPr sz="1500" b="0">
              <a:solidFill>
                <a:srgbClr val="333333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86342" y="1428750"/>
            <a:ext cx="2524061" cy="1219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4" name="TextBox 13"/>
          <p:cNvSpPr txBox="1"/>
          <p:nvPr/>
        </p:nvSpPr>
        <p:spPr>
          <a:xfrm>
            <a:off x="7235636" y="1735138"/>
            <a:ext cx="62547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500" b="1">
                <a:solidFill>
                  <a:srgbClr val="5D4037"/>
                </a:solidFill>
              </a:rPr>
              <a:t>6.76%</a:t>
            </a:r>
            <a:endParaRPr sz="1500" b="1">
              <a:solidFill>
                <a:srgbClr val="5D4037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33656" y="2178050"/>
            <a:ext cx="182943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4037"/>
                </a:solidFill>
              </a:rPr>
              <a:t>Average Cost Overrun</a:t>
            </a:r>
            <a:endParaRPr sz="1500" b="0">
              <a:solidFill>
                <a:srgbClr val="5D4037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000899" y="1428750"/>
            <a:ext cx="2524061" cy="1219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7" name="TextBox 16"/>
          <p:cNvSpPr txBox="1"/>
          <p:nvPr/>
        </p:nvSpPr>
        <p:spPr>
          <a:xfrm>
            <a:off x="9827638" y="1735138"/>
            <a:ext cx="87058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500" b="1">
                <a:solidFill>
                  <a:srgbClr val="5D4037"/>
                </a:solidFill>
              </a:rPr>
              <a:t>₹944,491</a:t>
            </a:r>
            <a:endParaRPr sz="1500" b="1">
              <a:solidFill>
                <a:srgbClr val="5D4037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350753" y="2178050"/>
            <a:ext cx="182435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4037"/>
                </a:solidFill>
              </a:rPr>
              <a:t>Total Financial Impact</a:t>
            </a:r>
            <a:endParaRPr sz="1500" b="0">
              <a:solidFill>
                <a:srgbClr val="5D4037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86342" y="2886075"/>
            <a:ext cx="5238619" cy="240030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altLang="en-GB" sz="1500">
                <a:sym typeface="+mn-ea"/>
              </a:rPr>
              <a:t>Figure no. 1</a:t>
            </a:r>
            <a:endParaRPr sz="1500"/>
          </a:p>
        </p:txBody>
      </p:sp>
      <p:sp>
        <p:nvSpPr>
          <p:cNvPr id="20" name="TextBox 19"/>
          <p:cNvSpPr txBox="1"/>
          <p:nvPr/>
        </p:nvSpPr>
        <p:spPr>
          <a:xfrm>
            <a:off x="6524461" y="2934970"/>
            <a:ext cx="238823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500" b="1">
                <a:solidFill>
                  <a:srgbClr val="3E2723"/>
                </a:solidFill>
              </a:rPr>
              <a:t> </a:t>
            </a:r>
            <a:r>
              <a:rPr sz="1500"/>
              <a:t>  </a:t>
            </a:r>
            <a:r>
              <a:rPr sz="1500" b="1">
                <a:solidFill>
                  <a:srgbClr val="3E2723"/>
                </a:solidFill>
              </a:rPr>
              <a:t> Cost Overrun Distribution </a:t>
            </a:r>
            <a:endParaRPr sz="1500" b="1">
              <a:solidFill>
                <a:srgbClr val="3E2723"/>
              </a:solidFill>
            </a:endParaRP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524461" y="3022282"/>
            <a:ext cx="228594" cy="142875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286342" y="5524499"/>
            <a:ext cx="5238619" cy="1190625"/>
          </a:xfrm>
          <a:prstGeom prst="roundRect">
            <a:avLst>
              <a:gd name="adj" fmla="val 6400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5757070" y="6053771"/>
            <a:ext cx="11906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D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5" name="TextBox 24"/>
          <p:cNvSpPr txBox="1"/>
          <p:nvPr/>
        </p:nvSpPr>
        <p:spPr>
          <a:xfrm>
            <a:off x="6514937" y="5664200"/>
            <a:ext cx="163576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500" b="1">
                <a:solidFill>
                  <a:srgbClr val="5D4037"/>
                </a:solidFill>
              </a:rPr>
              <a:t> </a:t>
            </a:r>
            <a:r>
              <a:rPr sz="1500"/>
              <a:t>  </a:t>
            </a:r>
            <a:r>
              <a:rPr sz="1500" b="1">
                <a:solidFill>
                  <a:srgbClr val="5D4037"/>
                </a:solidFill>
              </a:rPr>
              <a:t> Business Impact </a:t>
            </a:r>
            <a:endParaRPr sz="1500" b="1">
              <a:solidFill>
                <a:srgbClr val="5D4037"/>
              </a:solidFill>
            </a:endParaRP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14937" y="5766434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14937" y="6023610"/>
            <a:ext cx="4819529" cy="5257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</a:rPr>
              <a:t> For every </a:t>
            </a:r>
            <a:r>
              <a:rPr sz="1500" b="1">
                <a:solidFill>
                  <a:srgbClr val="5D4037"/>
                </a:solidFill>
              </a:rPr>
              <a:t>₹100,000 quoted</a:t>
            </a:r>
            <a:r>
              <a:rPr sz="1500" b="0">
                <a:solidFill>
                  <a:srgbClr val="333333"/>
                </a:solidFill>
              </a:rPr>
              <a:t>, the actual cost is </a:t>
            </a:r>
            <a:r>
              <a:rPr sz="1500" b="1">
                <a:solidFill>
                  <a:srgbClr val="5D4037"/>
                </a:solidFill>
              </a:rPr>
              <a:t>₹106,760</a:t>
            </a:r>
            <a:r>
              <a:rPr sz="1500" b="0">
                <a:solidFill>
                  <a:srgbClr val="333333"/>
                </a:solidFill>
              </a:rPr>
              <a:t>, creating a systematic profit gap 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28" name="Picture 13" descr="Quoted vs Actual Cost Scatter Plot"/>
          <p:cNvPicPr>
            <a:picLocks noChangeAspect="1"/>
          </p:cNvPicPr>
          <p:nvPr/>
        </p:nvPicPr>
        <p:blipFill>
          <a:blip r:embed="rId5"/>
          <a:srcRect t="10805"/>
          <a:stretch>
            <a:fillRect/>
          </a:stretch>
        </p:blipFill>
        <p:spPr>
          <a:xfrm>
            <a:off x="647065" y="2108835"/>
            <a:ext cx="5258435" cy="2913380"/>
          </a:xfrm>
          <a:prstGeom prst="rect">
            <a:avLst/>
          </a:prstGeom>
        </p:spPr>
      </p:pic>
      <p:sp>
        <p:nvSpPr>
          <p:cNvPr id="29" name="Text Box 28"/>
          <p:cNvSpPr txBox="1"/>
          <p:nvPr/>
        </p:nvSpPr>
        <p:spPr>
          <a:xfrm>
            <a:off x="2618740" y="4975860"/>
            <a:ext cx="1373505" cy="250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GB"/>
              <a:t>Figure no. 1</a:t>
            </a:r>
            <a:endParaRPr lang="en-IN" altLang="en-GB"/>
          </a:p>
        </p:txBody>
      </p:sp>
      <p:sp>
        <p:nvSpPr>
          <p:cNvPr id="30" name="Text Box 29"/>
          <p:cNvSpPr txBox="1"/>
          <p:nvPr/>
        </p:nvSpPr>
        <p:spPr>
          <a:xfrm>
            <a:off x="8150860" y="5224145"/>
            <a:ext cx="1373505" cy="250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GB"/>
              <a:t>Figure no. 2</a:t>
            </a:r>
            <a:endParaRPr lang="en-IN" altLang="en-GB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5230" y="3189605"/>
            <a:ext cx="5228590" cy="19500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" name="TextBox 2"/>
          <p:cNvSpPr txBox="1"/>
          <p:nvPr/>
        </p:nvSpPr>
        <p:spPr>
          <a:xfrm>
            <a:off x="666733" y="333691"/>
            <a:ext cx="6628130" cy="57086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lang="en-IN" sz="3000" b="1">
                <a:solidFill>
                  <a:srgbClr val="FFFFFF"/>
                </a:solidFill>
                <a:sym typeface="+mn-ea"/>
              </a:rPr>
              <a:t>Slide 6: </a:t>
            </a:r>
            <a:r>
              <a:rPr sz="3000" b="1">
                <a:solidFill>
                  <a:srgbClr val="FFFFFF"/>
                </a:solidFill>
              </a:rPr>
              <a:t>Key Findings - Project Size Impact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66733" y="1428750"/>
            <a:ext cx="5238619" cy="3800475"/>
          </a:xfrm>
          <a:prstGeom prst="roundRect">
            <a:avLst>
              <a:gd name="adj" fmla="val 401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5" name="TextBox 4"/>
          <p:cNvSpPr txBox="1"/>
          <p:nvPr/>
        </p:nvSpPr>
        <p:spPr>
          <a:xfrm>
            <a:off x="904852" y="1644649"/>
            <a:ext cx="261239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500" b="1">
                <a:solidFill>
                  <a:srgbClr val="3E2723"/>
                </a:solidFill>
              </a:rPr>
              <a:t> </a:t>
            </a:r>
            <a:r>
              <a:rPr sz="1500"/>
              <a:t>  </a:t>
            </a:r>
            <a:r>
              <a:rPr sz="1500" b="1">
                <a:solidFill>
                  <a:srgbClr val="3E2723"/>
                </a:solidFill>
              </a:rPr>
              <a:t> Project Size vs. Cost Overrun </a:t>
            </a:r>
            <a:endParaRPr sz="1500" b="1">
              <a:solidFill>
                <a:srgbClr val="3E2723"/>
              </a:solidFill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">
            <a:alphaModFix amt="100000"/>
          </a:blip>
          <a:stretch>
            <a:fillRect/>
          </a:stretch>
        </p:blipFill>
        <p:spPr>
          <a:xfrm>
            <a:off x="904852" y="1722596"/>
            <a:ext cx="228594" cy="17430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6733" y="5467349"/>
            <a:ext cx="5238619" cy="1190625"/>
          </a:xfrm>
          <a:prstGeom prst="roundRect">
            <a:avLst>
              <a:gd name="adj" fmla="val 6400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137461" y="5996621"/>
            <a:ext cx="11906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D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0" name="TextBox 9"/>
          <p:cNvSpPr txBox="1"/>
          <p:nvPr/>
        </p:nvSpPr>
        <p:spPr>
          <a:xfrm>
            <a:off x="895327" y="5607050"/>
            <a:ext cx="122237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500" b="1">
                <a:solidFill>
                  <a:srgbClr val="5D4037"/>
                </a:solidFill>
              </a:rPr>
              <a:t> </a:t>
            </a:r>
            <a:r>
              <a:rPr sz="1500"/>
              <a:t>  </a:t>
            </a:r>
            <a:r>
              <a:rPr sz="1500" b="1">
                <a:solidFill>
                  <a:srgbClr val="5D4037"/>
                </a:solidFill>
              </a:rPr>
              <a:t> Key Insight </a:t>
            </a:r>
            <a:endParaRPr sz="1500" b="1">
              <a:solidFill>
                <a:srgbClr val="5D4037"/>
              </a:solidFill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5674994"/>
            <a:ext cx="228594" cy="1943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95327" y="5862320"/>
            <a:ext cx="4819529" cy="73406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 b="1">
                <a:solidFill>
                  <a:srgbClr val="5D4037"/>
                </a:solidFill>
              </a:rPr>
              <a:t>Medium projects (151-300 sq.ft.)</a:t>
            </a:r>
            <a:r>
              <a:rPr sz="1500" b="0">
                <a:solidFill>
                  <a:srgbClr val="333333"/>
                </a:solidFill>
              </a:rPr>
              <a:t> show the highest volatility in cost overruns, making them the most unpredictable category </a:t>
            </a:r>
            <a:endParaRPr sz="1500" b="0">
              <a:solidFill>
                <a:srgbClr val="333333"/>
              </a:solidFill>
            </a:endParaRPr>
          </a:p>
        </p:txBody>
      </p:sp>
      <p:sp>
        <p:nvSpPr>
          <p:cNvPr id="13" name="Rounded Rectangle 12"/>
          <p:cNvSpPr/>
          <p:nvPr>
            <p:custDataLst>
              <p:tags r:id="rId3"/>
            </p:custDataLst>
          </p:nvPr>
        </p:nvSpPr>
        <p:spPr>
          <a:xfrm>
            <a:off x="6286342" y="1428750"/>
            <a:ext cx="5238619" cy="95249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4" name="Rounded Rectangle 13"/>
          <p:cNvSpPr/>
          <p:nvPr>
            <p:custDataLst>
              <p:tags r:id="rId4"/>
            </p:custDataLst>
          </p:nvPr>
        </p:nvSpPr>
        <p:spPr>
          <a:xfrm>
            <a:off x="6476838" y="161925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pic>
        <p:nvPicPr>
          <p:cNvPr id="15" name="Picture 14" descr="image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610184" y="1792165"/>
            <a:ext cx="304792" cy="225669"/>
          </a:xfrm>
          <a:prstGeom prst="rect">
            <a:avLst/>
          </a:prstGeom>
        </p:spPr>
      </p:pic>
      <p:sp>
        <p:nvSpPr>
          <p:cNvPr id="16" name="TextBox 15"/>
          <p:cNvSpPr txBox="1"/>
          <p:nvPr>
            <p:custDataLst>
              <p:tags r:id="rId7"/>
            </p:custDataLst>
          </p:nvPr>
        </p:nvSpPr>
        <p:spPr>
          <a:xfrm>
            <a:off x="7238819" y="1620837"/>
            <a:ext cx="224980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500" b="1">
                <a:solidFill>
                  <a:srgbClr val="3E2723"/>
                </a:solidFill>
              </a:rPr>
              <a:t>Small Projects (≤150 sq.ft.)</a:t>
            </a:r>
            <a:endParaRPr sz="1500" b="1">
              <a:solidFill>
                <a:srgbClr val="3E2723"/>
              </a:solidFill>
            </a:endParaRPr>
          </a:p>
        </p:txBody>
      </p:sp>
      <p:pic>
        <p:nvPicPr>
          <p:cNvPr id="17" name="Picture 16" descr="image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238819" y="2017149"/>
            <a:ext cx="171445" cy="99551"/>
          </a:xfrm>
          <a:prstGeom prst="rect">
            <a:avLst/>
          </a:prstGeom>
        </p:spPr>
      </p:pic>
      <p:sp>
        <p:nvSpPr>
          <p:cNvPr id="18" name="TextBox 17"/>
          <p:cNvSpPr txBox="1"/>
          <p:nvPr>
            <p:custDataLst>
              <p:tags r:id="rId10"/>
            </p:custDataLst>
          </p:nvPr>
        </p:nvSpPr>
        <p:spPr>
          <a:xfrm>
            <a:off x="7457888" y="1887536"/>
            <a:ext cx="183705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D4037"/>
                </a:solidFill>
              </a:rPr>
              <a:t>5-6%</a:t>
            </a:r>
            <a:r>
              <a:rPr sz="1500" b="0">
                <a:solidFill>
                  <a:srgbClr val="5D4037"/>
                </a:solidFill>
              </a:rPr>
              <a:t> average overrun</a:t>
            </a:r>
            <a:endParaRPr sz="1500" b="0">
              <a:solidFill>
                <a:srgbClr val="5D4037"/>
              </a:solidFill>
            </a:endParaRPr>
          </a:p>
        </p:txBody>
      </p:sp>
      <p:sp>
        <p:nvSpPr>
          <p:cNvPr id="20" name="TextBox 19"/>
          <p:cNvSpPr txBox="1"/>
          <p:nvPr>
            <p:custDataLst>
              <p:tags r:id="rId11"/>
            </p:custDataLst>
          </p:nvPr>
        </p:nvSpPr>
        <p:spPr>
          <a:xfrm>
            <a:off x="9210444" y="1887536"/>
            <a:ext cx="146240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4037"/>
                </a:solidFill>
              </a:rPr>
              <a:t>Most predictable</a:t>
            </a:r>
            <a:endParaRPr sz="1500" b="0">
              <a:solidFill>
                <a:srgbClr val="5D4037"/>
              </a:solidFill>
            </a:endParaRPr>
          </a:p>
        </p:txBody>
      </p:sp>
      <p:sp>
        <p:nvSpPr>
          <p:cNvPr id="21" name="Rounded Rectangle 20"/>
          <p:cNvSpPr/>
          <p:nvPr>
            <p:custDataLst>
              <p:tags r:id="rId12"/>
            </p:custDataLst>
          </p:nvPr>
        </p:nvSpPr>
        <p:spPr>
          <a:xfrm>
            <a:off x="6286342" y="2571750"/>
            <a:ext cx="5238619" cy="95249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2" name="Rounded Rectangle 21"/>
          <p:cNvSpPr/>
          <p:nvPr>
            <p:custDataLst>
              <p:tags r:id="rId13"/>
            </p:custDataLst>
          </p:nvPr>
        </p:nvSpPr>
        <p:spPr>
          <a:xfrm>
            <a:off x="6476838" y="276224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pic>
        <p:nvPicPr>
          <p:cNvPr id="23" name="Picture 22" descr="image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6610184" y="2930769"/>
            <a:ext cx="304792" cy="234461"/>
          </a:xfrm>
          <a:prstGeom prst="rect">
            <a:avLst/>
          </a:prstGeom>
        </p:spPr>
      </p:pic>
      <p:sp>
        <p:nvSpPr>
          <p:cNvPr id="24" name="TextBox 23"/>
          <p:cNvSpPr txBox="1"/>
          <p:nvPr>
            <p:custDataLst>
              <p:tags r:id="rId16"/>
            </p:custDataLst>
          </p:nvPr>
        </p:nvSpPr>
        <p:spPr>
          <a:xfrm>
            <a:off x="7238819" y="2763837"/>
            <a:ext cx="273875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500" b="1">
                <a:solidFill>
                  <a:srgbClr val="3E2723"/>
                </a:solidFill>
              </a:rPr>
              <a:t>Medium Projects (15</a:t>
            </a:r>
            <a:r>
              <a:rPr lang="en-IN" sz="1500" b="1">
                <a:solidFill>
                  <a:srgbClr val="3E2723"/>
                </a:solidFill>
              </a:rPr>
              <a:t>0</a:t>
            </a:r>
            <a:r>
              <a:rPr sz="1500" b="1">
                <a:solidFill>
                  <a:srgbClr val="3E2723"/>
                </a:solidFill>
              </a:rPr>
              <a:t>-300 sq.ft.)</a:t>
            </a:r>
            <a:endParaRPr sz="1500" b="1">
              <a:solidFill>
                <a:srgbClr val="3E2723"/>
              </a:solidFill>
            </a:endParaRPr>
          </a:p>
        </p:txBody>
      </p:sp>
      <p:pic>
        <p:nvPicPr>
          <p:cNvPr id="25" name="Picture 24" descr="image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238819" y="3160149"/>
            <a:ext cx="171445" cy="99551"/>
          </a:xfrm>
          <a:prstGeom prst="rect">
            <a:avLst/>
          </a:prstGeom>
        </p:spPr>
      </p:pic>
      <p:sp>
        <p:nvSpPr>
          <p:cNvPr id="26" name="TextBox 25"/>
          <p:cNvSpPr txBox="1"/>
          <p:nvPr>
            <p:custDataLst>
              <p:tags r:id="rId18"/>
            </p:custDataLst>
          </p:nvPr>
        </p:nvSpPr>
        <p:spPr>
          <a:xfrm>
            <a:off x="7457888" y="3030536"/>
            <a:ext cx="183705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D4037"/>
                </a:solidFill>
              </a:rPr>
              <a:t>7-8%</a:t>
            </a:r>
            <a:r>
              <a:rPr sz="1500" b="0">
                <a:solidFill>
                  <a:srgbClr val="5D4037"/>
                </a:solidFill>
              </a:rPr>
              <a:t> average overrun</a:t>
            </a:r>
            <a:endParaRPr sz="1500" b="0">
              <a:solidFill>
                <a:srgbClr val="5D4037"/>
              </a:solidFill>
            </a:endParaRPr>
          </a:p>
        </p:txBody>
      </p:sp>
      <p:sp>
        <p:nvSpPr>
          <p:cNvPr id="28" name="TextBox 27"/>
          <p:cNvSpPr txBox="1"/>
          <p:nvPr>
            <p:custDataLst>
              <p:tags r:id="rId19"/>
            </p:custDataLst>
          </p:nvPr>
        </p:nvSpPr>
        <p:spPr>
          <a:xfrm>
            <a:off x="9210444" y="3030536"/>
            <a:ext cx="143383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4037"/>
                </a:solidFill>
              </a:rPr>
              <a:t>Highest volatility</a:t>
            </a:r>
            <a:endParaRPr sz="1500" b="0">
              <a:solidFill>
                <a:srgbClr val="5D4037"/>
              </a:solidFill>
            </a:endParaRPr>
          </a:p>
        </p:txBody>
      </p:sp>
      <p:sp>
        <p:nvSpPr>
          <p:cNvPr id="29" name="Rounded Rectangle 28"/>
          <p:cNvSpPr/>
          <p:nvPr>
            <p:custDataLst>
              <p:tags r:id="rId20"/>
            </p:custDataLst>
          </p:nvPr>
        </p:nvSpPr>
        <p:spPr>
          <a:xfrm>
            <a:off x="6286342" y="3714750"/>
            <a:ext cx="5238619" cy="95249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0" name="Rounded Rectangle 29"/>
          <p:cNvSpPr/>
          <p:nvPr>
            <p:custDataLst>
              <p:tags r:id="rId21"/>
            </p:custDataLst>
          </p:nvPr>
        </p:nvSpPr>
        <p:spPr>
          <a:xfrm>
            <a:off x="6476838" y="390524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pic>
        <p:nvPicPr>
          <p:cNvPr id="31" name="Picture 30" descr="image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alphaModFix amt="100000"/>
          </a:blip>
          <a:stretch>
            <a:fillRect/>
          </a:stretch>
        </p:blipFill>
        <p:spPr>
          <a:xfrm>
            <a:off x="6610184" y="4073769"/>
            <a:ext cx="304792" cy="234461"/>
          </a:xfrm>
          <a:prstGeom prst="rect">
            <a:avLst/>
          </a:prstGeom>
        </p:spPr>
      </p:pic>
      <p:sp>
        <p:nvSpPr>
          <p:cNvPr id="32" name="TextBox 31"/>
          <p:cNvSpPr txBox="1"/>
          <p:nvPr>
            <p:custDataLst>
              <p:tags r:id="rId24"/>
            </p:custDataLst>
          </p:nvPr>
        </p:nvSpPr>
        <p:spPr>
          <a:xfrm>
            <a:off x="7238819" y="3906837"/>
            <a:ext cx="224028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500" b="1">
                <a:solidFill>
                  <a:srgbClr val="3E2723"/>
                </a:solidFill>
              </a:rPr>
              <a:t>Large Projects (&gt;300 sq.ft.)</a:t>
            </a:r>
            <a:endParaRPr sz="1500" b="1">
              <a:solidFill>
                <a:srgbClr val="3E2723"/>
              </a:solidFill>
            </a:endParaRPr>
          </a:p>
        </p:txBody>
      </p:sp>
      <p:pic>
        <p:nvPicPr>
          <p:cNvPr id="33" name="Picture 32" descr="image.png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238819" y="4303149"/>
            <a:ext cx="171445" cy="99551"/>
          </a:xfrm>
          <a:prstGeom prst="rect">
            <a:avLst/>
          </a:prstGeom>
        </p:spPr>
      </p:pic>
      <p:sp>
        <p:nvSpPr>
          <p:cNvPr id="34" name="TextBox 33"/>
          <p:cNvSpPr txBox="1"/>
          <p:nvPr>
            <p:custDataLst>
              <p:tags r:id="rId26"/>
            </p:custDataLst>
          </p:nvPr>
        </p:nvSpPr>
        <p:spPr>
          <a:xfrm>
            <a:off x="7457888" y="4173537"/>
            <a:ext cx="183705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D4037"/>
                </a:solidFill>
              </a:rPr>
              <a:t>6-7%</a:t>
            </a:r>
            <a:r>
              <a:rPr sz="1500" b="0">
                <a:solidFill>
                  <a:srgbClr val="5D4037"/>
                </a:solidFill>
              </a:rPr>
              <a:t> average overrun</a:t>
            </a:r>
            <a:endParaRPr sz="1500" b="0">
              <a:solidFill>
                <a:srgbClr val="5D4037"/>
              </a:solidFill>
            </a:endParaRPr>
          </a:p>
        </p:txBody>
      </p:sp>
      <p:sp>
        <p:nvSpPr>
          <p:cNvPr id="36" name="TextBox 35"/>
          <p:cNvSpPr txBox="1"/>
          <p:nvPr>
            <p:custDataLst>
              <p:tags r:id="rId27"/>
            </p:custDataLst>
          </p:nvPr>
        </p:nvSpPr>
        <p:spPr>
          <a:xfrm>
            <a:off x="9210444" y="4173537"/>
            <a:ext cx="197231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4037"/>
                </a:solidFill>
              </a:rPr>
              <a:t>Moderate predictability</a:t>
            </a:r>
            <a:endParaRPr sz="1500" b="0">
              <a:solidFill>
                <a:srgbClr val="5D4037"/>
              </a:solidFill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286342" y="5467349"/>
            <a:ext cx="5238619" cy="1190625"/>
          </a:xfrm>
          <a:prstGeom prst="roundRect">
            <a:avLst>
              <a:gd name="adj" fmla="val 6400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8" name="Round Same Side Corner Rectangle 37"/>
          <p:cNvSpPr/>
          <p:nvPr/>
        </p:nvSpPr>
        <p:spPr>
          <a:xfrm rot="16200000">
            <a:off x="5757070" y="5996621"/>
            <a:ext cx="11906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D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9" name="TextBox 38"/>
          <p:cNvSpPr txBox="1"/>
          <p:nvPr/>
        </p:nvSpPr>
        <p:spPr>
          <a:xfrm>
            <a:off x="6514937" y="5607050"/>
            <a:ext cx="248856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500" b="1">
                <a:solidFill>
                  <a:srgbClr val="5D4037"/>
                </a:solidFill>
              </a:rPr>
              <a:t> </a:t>
            </a:r>
            <a:r>
              <a:rPr sz="1500"/>
              <a:t>  </a:t>
            </a:r>
            <a:r>
              <a:rPr sz="1500" b="1">
                <a:solidFill>
                  <a:srgbClr val="5D4037"/>
                </a:solidFill>
              </a:rPr>
              <a:t> Business Recommendation </a:t>
            </a:r>
            <a:endParaRPr sz="1500" b="1">
              <a:solidFill>
                <a:srgbClr val="5D4037"/>
              </a:solidFill>
            </a:endParaRP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8">
            <a:alphaModFix amt="100000"/>
          </a:blip>
          <a:stretch>
            <a:fillRect/>
          </a:stretch>
        </p:blipFill>
        <p:spPr>
          <a:xfrm>
            <a:off x="6514937" y="5686425"/>
            <a:ext cx="228594" cy="17145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514937" y="5966460"/>
            <a:ext cx="4819529" cy="5257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</a:rPr>
              <a:t> Apply </a:t>
            </a:r>
            <a:r>
              <a:rPr sz="1500" b="1">
                <a:solidFill>
                  <a:srgbClr val="5D4037"/>
                </a:solidFill>
              </a:rPr>
              <a:t>size-based buffers</a:t>
            </a:r>
            <a:r>
              <a:rPr sz="1500" b="0">
                <a:solidFill>
                  <a:srgbClr val="333333"/>
                </a:solidFill>
              </a:rPr>
              <a:t>: Small (5-7%), Medium (8-10%), Large (6-8%) to account for varying risk profiles 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42" name="Picture 18" descr="PROJECT SIZE CATEGORY ANALYSIS"/>
          <p:cNvPicPr>
            <a:picLocks noChangeAspect="1"/>
          </p:cNvPicPr>
          <p:nvPr/>
        </p:nvPicPr>
        <p:blipFill>
          <a:blip r:embed="rId29"/>
          <a:srcRect t="9422"/>
          <a:stretch>
            <a:fillRect/>
          </a:stretch>
        </p:blipFill>
        <p:spPr>
          <a:xfrm>
            <a:off x="666750" y="2018030"/>
            <a:ext cx="5238750" cy="3087370"/>
          </a:xfrm>
          <a:prstGeom prst="rect">
            <a:avLst/>
          </a:prstGeom>
        </p:spPr>
      </p:pic>
      <p:sp>
        <p:nvSpPr>
          <p:cNvPr id="43" name="Text Box 42"/>
          <p:cNvSpPr txBox="1"/>
          <p:nvPr/>
        </p:nvSpPr>
        <p:spPr>
          <a:xfrm>
            <a:off x="2713990" y="4975860"/>
            <a:ext cx="1373505" cy="250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GB"/>
              <a:t>Figure no. 3</a:t>
            </a:r>
            <a:endParaRPr lang="en-IN" alt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04874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" name="TextBox 2"/>
          <p:cNvSpPr txBox="1"/>
          <p:nvPr/>
        </p:nvSpPr>
        <p:spPr>
          <a:xfrm>
            <a:off x="666733" y="238442"/>
            <a:ext cx="5897245" cy="57086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N" sz="3000" b="1">
                <a:solidFill>
                  <a:srgbClr val="FFFFFF"/>
                </a:solidFill>
                <a:sym typeface="+mn-ea"/>
              </a:rPr>
              <a:t>Slide 7: </a:t>
            </a:r>
            <a:r>
              <a:rPr sz="3000" b="1">
                <a:solidFill>
                  <a:srgbClr val="FFFFFF"/>
                </a:solidFill>
              </a:rPr>
              <a:t>Key Findings - Delay Analysis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66733" y="1095374"/>
            <a:ext cx="2571685" cy="1000125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5" name="TextBox 4"/>
          <p:cNvSpPr txBox="1"/>
          <p:nvPr/>
        </p:nvSpPr>
        <p:spPr>
          <a:xfrm>
            <a:off x="1757630" y="1306511"/>
            <a:ext cx="38989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500" b="1">
                <a:solidFill>
                  <a:srgbClr val="5D4037"/>
                </a:solidFill>
              </a:rPr>
              <a:t>3.8</a:t>
            </a:r>
            <a:endParaRPr sz="1500" b="1">
              <a:solidFill>
                <a:srgbClr val="5D4037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1195" y="1687512"/>
            <a:ext cx="176276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4037"/>
                </a:solidFill>
              </a:rPr>
              <a:t>Average Delay (Days)</a:t>
            </a:r>
            <a:endParaRPr sz="1500" b="0">
              <a:solidFill>
                <a:srgbClr val="5D4037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381290" y="1095374"/>
            <a:ext cx="2571685" cy="1000125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8" name="TextBox 7"/>
          <p:cNvSpPr txBox="1"/>
          <p:nvPr/>
        </p:nvSpPr>
        <p:spPr>
          <a:xfrm>
            <a:off x="4545847" y="1306511"/>
            <a:ext cx="24257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500" b="1">
                <a:solidFill>
                  <a:srgbClr val="5D4037"/>
                </a:solidFill>
              </a:rPr>
              <a:t>7</a:t>
            </a:r>
            <a:endParaRPr sz="1500" b="1">
              <a:solidFill>
                <a:srgbClr val="5D4037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04472" y="1687512"/>
            <a:ext cx="192532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4037"/>
                </a:solidFill>
              </a:rPr>
              <a:t>Maximum Delay (Days)</a:t>
            </a:r>
            <a:endParaRPr sz="1500" b="0">
              <a:solidFill>
                <a:srgbClr val="5D4037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66733" y="2238375"/>
            <a:ext cx="5286242" cy="3248024"/>
          </a:xfrm>
          <a:prstGeom prst="roundRect">
            <a:avLst>
              <a:gd name="adj" fmla="val 469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1" name="TextBox 10"/>
          <p:cNvSpPr txBox="1"/>
          <p:nvPr/>
        </p:nvSpPr>
        <p:spPr>
          <a:xfrm>
            <a:off x="857228" y="2201862"/>
            <a:ext cx="240665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500" b="1">
                <a:solidFill>
                  <a:srgbClr val="3E2723"/>
                </a:solidFill>
              </a:rPr>
              <a:t> </a:t>
            </a:r>
            <a:r>
              <a:rPr sz="1500"/>
              <a:t>  </a:t>
            </a:r>
            <a:r>
              <a:rPr sz="1500" b="1">
                <a:solidFill>
                  <a:srgbClr val="3E2723"/>
                </a:solidFill>
              </a:rPr>
              <a:t> Project Duration vs. Delay </a:t>
            </a:r>
            <a:endParaRPr sz="1500" b="1">
              <a:solidFill>
                <a:srgbClr val="3E2723"/>
              </a:solidFill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">
            <a:alphaModFix amt="100000"/>
          </a:blip>
          <a:stretch>
            <a:fillRect/>
          </a:stretch>
        </p:blipFill>
        <p:spPr>
          <a:xfrm>
            <a:off x="809603" y="2295524"/>
            <a:ext cx="228594" cy="125729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66733" y="5676900"/>
            <a:ext cx="5286242" cy="990599"/>
          </a:xfrm>
          <a:prstGeom prst="roundRect">
            <a:avLst>
              <a:gd name="adj" fmla="val 7692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237474" y="6106159"/>
            <a:ext cx="9905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D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6" name="TextBox 15"/>
          <p:cNvSpPr txBox="1"/>
          <p:nvPr/>
        </p:nvSpPr>
        <p:spPr>
          <a:xfrm>
            <a:off x="847703" y="5764213"/>
            <a:ext cx="122237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500" b="1">
                <a:solidFill>
                  <a:srgbClr val="5D4037"/>
                </a:solidFill>
              </a:rPr>
              <a:t> </a:t>
            </a:r>
            <a:r>
              <a:rPr sz="1500"/>
              <a:t>  </a:t>
            </a:r>
            <a:r>
              <a:rPr sz="1500" b="1">
                <a:solidFill>
                  <a:srgbClr val="5D4037"/>
                </a:solidFill>
              </a:rPr>
              <a:t> Key Insight </a:t>
            </a:r>
            <a:endParaRPr sz="1500" b="1">
              <a:solidFill>
                <a:srgbClr val="5D4037"/>
              </a:solidFill>
            </a:endParaRP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47703" y="5836920"/>
            <a:ext cx="228594" cy="19430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47703" y="6103302"/>
            <a:ext cx="4962400" cy="44259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</a:rPr>
              <a:t> Strong correlation (R²=</a:t>
            </a:r>
            <a:r>
              <a:rPr sz="1500" b="1">
                <a:solidFill>
                  <a:srgbClr val="5D4037"/>
                </a:solidFill>
              </a:rPr>
              <a:t>0.86</a:t>
            </a:r>
            <a:r>
              <a:rPr sz="1500" b="0">
                <a:solidFill>
                  <a:srgbClr val="333333"/>
                </a:solidFill>
              </a:rPr>
              <a:t>) between project duration and absolute delay days </a:t>
            </a:r>
            <a:endParaRPr sz="1500" b="0">
              <a:solidFill>
                <a:srgbClr val="333333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38875" y="1095375"/>
            <a:ext cx="5286375" cy="4391025"/>
          </a:xfrm>
          <a:prstGeom prst="roundRect">
            <a:avLst>
              <a:gd name="adj" fmla="val 318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0" name="TextBox 19"/>
          <p:cNvSpPr txBox="1"/>
          <p:nvPr/>
        </p:nvSpPr>
        <p:spPr>
          <a:xfrm>
            <a:off x="6429214" y="1249362"/>
            <a:ext cx="212725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500" b="1">
                <a:solidFill>
                  <a:srgbClr val="3E2723"/>
                </a:solidFill>
              </a:rPr>
              <a:t> </a:t>
            </a:r>
            <a:r>
              <a:rPr sz="1500"/>
              <a:t>  </a:t>
            </a:r>
            <a:r>
              <a:rPr sz="1500" b="1">
                <a:solidFill>
                  <a:srgbClr val="3E2723"/>
                </a:solidFill>
              </a:rPr>
              <a:t> Main Causes of Delays </a:t>
            </a:r>
            <a:endParaRPr sz="1500" b="1">
              <a:solidFill>
                <a:srgbClr val="3E2723"/>
              </a:solidFill>
            </a:endParaRP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29214" y="1330642"/>
            <a:ext cx="228594" cy="177164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429214" y="1647825"/>
            <a:ext cx="4905252" cy="647699"/>
          </a:xfrm>
          <a:prstGeom prst="roundRect">
            <a:avLst>
              <a:gd name="adj" fmla="val 23529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3" name="Rounded Rectangle 22"/>
          <p:cNvSpPr/>
          <p:nvPr/>
        </p:nvSpPr>
        <p:spPr>
          <a:xfrm>
            <a:off x="6543511" y="1781174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19709" y="1888807"/>
            <a:ext cx="228594" cy="16573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38799" y="1701800"/>
            <a:ext cx="136207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"/>
              </a:spcAft>
            </a:pPr>
            <a:r>
              <a:rPr sz="1500" b="1">
                <a:solidFill>
                  <a:srgbClr val="3E2723"/>
                </a:solidFill>
              </a:rPr>
              <a:t>Supplier Delays</a:t>
            </a:r>
            <a:endParaRPr sz="1500" b="1">
              <a:solidFill>
                <a:srgbClr val="3E2723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038799" y="1925637"/>
            <a:ext cx="347218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4037"/>
                </a:solidFill>
              </a:rPr>
              <a:t>Late delivery of plywood, laminates, </a:t>
            </a:r>
            <a:r>
              <a:rPr lang="en-IN" sz="1500" b="0">
                <a:solidFill>
                  <a:srgbClr val="5D4037"/>
                </a:solidFill>
              </a:rPr>
              <a:t>fevicol</a:t>
            </a:r>
            <a:endParaRPr lang="en-IN" sz="1500" b="0">
              <a:solidFill>
                <a:srgbClr val="5D4037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429214" y="2409825"/>
            <a:ext cx="4905252" cy="647699"/>
          </a:xfrm>
          <a:prstGeom prst="roundRect">
            <a:avLst>
              <a:gd name="adj" fmla="val 23529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8" name="Rounded Rectangle 27"/>
          <p:cNvSpPr/>
          <p:nvPr/>
        </p:nvSpPr>
        <p:spPr>
          <a:xfrm>
            <a:off x="6543511" y="254317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19709" y="2662237"/>
            <a:ext cx="228594" cy="1428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038799" y="2463800"/>
            <a:ext cx="130556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"/>
              </a:spcAft>
            </a:pPr>
            <a:r>
              <a:rPr sz="1500" b="1">
                <a:solidFill>
                  <a:srgbClr val="3E2723"/>
                </a:solidFill>
              </a:rPr>
              <a:t>Client Changes</a:t>
            </a:r>
            <a:endParaRPr sz="1500" b="1">
              <a:solidFill>
                <a:srgbClr val="3E2723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038799" y="2687638"/>
            <a:ext cx="291401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4037"/>
                </a:solidFill>
              </a:rPr>
              <a:t>Extra cabinets, design modifications</a:t>
            </a:r>
            <a:endParaRPr sz="1500" b="0">
              <a:solidFill>
                <a:srgbClr val="5D4037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429214" y="3171825"/>
            <a:ext cx="4905252" cy="647699"/>
          </a:xfrm>
          <a:prstGeom prst="roundRect">
            <a:avLst>
              <a:gd name="adj" fmla="val 23529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3" name="Rounded Rectangle 32"/>
          <p:cNvSpPr/>
          <p:nvPr/>
        </p:nvSpPr>
        <p:spPr>
          <a:xfrm>
            <a:off x="6543511" y="3305174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619709" y="3407092"/>
            <a:ext cx="228594" cy="17716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038799" y="3225800"/>
            <a:ext cx="141668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"/>
              </a:spcAft>
            </a:pPr>
            <a:r>
              <a:rPr sz="1500" b="1">
                <a:solidFill>
                  <a:srgbClr val="3E2723"/>
                </a:solidFill>
              </a:rPr>
              <a:t>Labor Shortages</a:t>
            </a:r>
            <a:endParaRPr sz="1500" b="1">
              <a:solidFill>
                <a:srgbClr val="3E2723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038799" y="3449636"/>
            <a:ext cx="268287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4037"/>
                </a:solidFill>
              </a:rPr>
              <a:t>Especially during festival seasons</a:t>
            </a:r>
            <a:endParaRPr sz="1500" b="0">
              <a:solidFill>
                <a:srgbClr val="5D4037"/>
              </a:solidFill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429214" y="3933824"/>
            <a:ext cx="4905252" cy="647699"/>
          </a:xfrm>
          <a:prstGeom prst="roundRect">
            <a:avLst>
              <a:gd name="adj" fmla="val 23529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8" name="Rounded Rectangle 37"/>
          <p:cNvSpPr/>
          <p:nvPr/>
        </p:nvSpPr>
        <p:spPr>
          <a:xfrm>
            <a:off x="6543511" y="4067174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619709" y="4167663"/>
            <a:ext cx="228594" cy="18002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038799" y="3987799"/>
            <a:ext cx="146050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"/>
              </a:spcAft>
            </a:pPr>
            <a:r>
              <a:rPr sz="1500" b="1">
                <a:solidFill>
                  <a:srgbClr val="3E2723"/>
                </a:solidFill>
              </a:rPr>
              <a:t>Design Revisions</a:t>
            </a:r>
            <a:endParaRPr sz="1500" b="1">
              <a:solidFill>
                <a:srgbClr val="3E2723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038799" y="4211637"/>
            <a:ext cx="306705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4037"/>
                </a:solidFill>
              </a:rPr>
              <a:t>Mid-project changes requiring rework</a:t>
            </a:r>
            <a:endParaRPr sz="1500" b="0">
              <a:solidFill>
                <a:srgbClr val="5D4037"/>
              </a:solidFill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6238875" y="5892165"/>
            <a:ext cx="5547995" cy="775335"/>
          </a:xfrm>
          <a:prstGeom prst="roundRect">
            <a:avLst>
              <a:gd name="adj" fmla="val 9638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43" name="Round Same Side Corner Rectangle 42"/>
          <p:cNvSpPr/>
          <p:nvPr/>
        </p:nvSpPr>
        <p:spPr>
          <a:xfrm rot="16200000">
            <a:off x="5909472" y="6206172"/>
            <a:ext cx="7905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D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44" name="TextBox 43"/>
          <p:cNvSpPr txBox="1"/>
          <p:nvPr/>
        </p:nvSpPr>
        <p:spPr>
          <a:xfrm>
            <a:off x="6419689" y="5964238"/>
            <a:ext cx="248856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500" b="1">
                <a:solidFill>
                  <a:srgbClr val="5D4037"/>
                </a:solidFill>
              </a:rPr>
              <a:t> </a:t>
            </a:r>
            <a:r>
              <a:rPr sz="1500"/>
              <a:t>  </a:t>
            </a:r>
            <a:r>
              <a:rPr sz="1500" b="1">
                <a:solidFill>
                  <a:srgbClr val="5D4037"/>
                </a:solidFill>
              </a:rPr>
              <a:t> Business Recommendation </a:t>
            </a:r>
            <a:endParaRPr sz="1500" b="1">
              <a:solidFill>
                <a:srgbClr val="5D4037"/>
              </a:solidFill>
            </a:endParaRP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419689" y="6048375"/>
            <a:ext cx="228594" cy="17145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419689" y="6286817"/>
            <a:ext cx="5381625" cy="27559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</a:rPr>
              <a:t> Apply </a:t>
            </a:r>
            <a:r>
              <a:rPr sz="1500" b="1">
                <a:solidFill>
                  <a:srgbClr val="5D4037"/>
                </a:solidFill>
              </a:rPr>
              <a:t>proportional timeline buffers</a:t>
            </a:r>
            <a:r>
              <a:rPr sz="1500" b="0">
                <a:solidFill>
                  <a:srgbClr val="333333"/>
                </a:solidFill>
              </a:rPr>
              <a:t> (5-10% of estimated duration) 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47" name="Picture 3" descr="IMG_256"/>
          <p:cNvPicPr>
            <a:picLocks noChangeAspect="1"/>
          </p:cNvPicPr>
          <p:nvPr/>
        </p:nvPicPr>
        <p:blipFill>
          <a:blip r:embed="rId9"/>
          <a:srcRect t="5730" b="5803"/>
          <a:stretch>
            <a:fillRect/>
          </a:stretch>
        </p:blipFill>
        <p:spPr>
          <a:xfrm>
            <a:off x="666750" y="2505075"/>
            <a:ext cx="5285740" cy="27978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8" name="Text Box 47"/>
          <p:cNvSpPr txBox="1"/>
          <p:nvPr/>
        </p:nvSpPr>
        <p:spPr>
          <a:xfrm>
            <a:off x="2713990" y="5209540"/>
            <a:ext cx="1373505" cy="250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GB"/>
              <a:t>Figure no. 4</a:t>
            </a:r>
            <a:endParaRPr lang="en-IN" alt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" name="TextBox 2"/>
          <p:cNvSpPr txBox="1"/>
          <p:nvPr/>
        </p:nvSpPr>
        <p:spPr>
          <a:xfrm>
            <a:off x="666733" y="333691"/>
            <a:ext cx="4532630" cy="57086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lang="en-IN" sz="3000" b="1">
                <a:solidFill>
                  <a:srgbClr val="FFFFFF"/>
                </a:solidFill>
                <a:sym typeface="+mn-ea"/>
              </a:rPr>
              <a:t>Slide 8: </a:t>
            </a:r>
            <a:r>
              <a:rPr sz="3000" b="1">
                <a:solidFill>
                  <a:srgbClr val="FFFFFF"/>
                </a:solidFill>
              </a:rPr>
              <a:t>Root Cause Analysis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66733" y="1428750"/>
            <a:ext cx="5238619" cy="3800475"/>
          </a:xfrm>
          <a:prstGeom prst="roundRect">
            <a:avLst>
              <a:gd name="adj" fmla="val 401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5" name="TextBox 4"/>
          <p:cNvSpPr txBox="1"/>
          <p:nvPr/>
        </p:nvSpPr>
        <p:spPr>
          <a:xfrm>
            <a:off x="904852" y="1644649"/>
            <a:ext cx="272478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500" b="1">
                <a:solidFill>
                  <a:srgbClr val="3E2723"/>
                </a:solidFill>
              </a:rPr>
              <a:t> </a:t>
            </a:r>
            <a:r>
              <a:rPr sz="1500"/>
              <a:t>  </a:t>
            </a:r>
            <a:r>
              <a:rPr sz="1500" b="1">
                <a:solidFill>
                  <a:srgbClr val="3E2723"/>
                </a:solidFill>
              </a:rPr>
              <a:t> Frequency vs. Impact Analysis </a:t>
            </a:r>
            <a:endParaRPr sz="1500" b="1">
              <a:solidFill>
                <a:srgbClr val="3E2723"/>
              </a:solidFill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">
            <a:alphaModFix amt="100000"/>
          </a:blip>
          <a:stretch>
            <a:fillRect/>
          </a:stretch>
        </p:blipFill>
        <p:spPr>
          <a:xfrm>
            <a:off x="904852" y="1726882"/>
            <a:ext cx="228594" cy="16573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04852" y="2105024"/>
            <a:ext cx="4762380" cy="288607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6733" y="5467349"/>
            <a:ext cx="5238619" cy="1190625"/>
          </a:xfrm>
          <a:prstGeom prst="roundRect">
            <a:avLst>
              <a:gd name="adj" fmla="val 6400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137461" y="5996621"/>
            <a:ext cx="11906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D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0" name="TextBox 9"/>
          <p:cNvSpPr txBox="1"/>
          <p:nvPr/>
        </p:nvSpPr>
        <p:spPr>
          <a:xfrm>
            <a:off x="895327" y="5607050"/>
            <a:ext cx="122237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500" b="1">
                <a:solidFill>
                  <a:srgbClr val="5D4037"/>
                </a:solidFill>
              </a:rPr>
              <a:t> </a:t>
            </a:r>
            <a:r>
              <a:rPr sz="1500"/>
              <a:t>  </a:t>
            </a:r>
            <a:r>
              <a:rPr sz="1500" b="1">
                <a:solidFill>
                  <a:srgbClr val="5D4037"/>
                </a:solidFill>
              </a:rPr>
              <a:t> Key Insight </a:t>
            </a:r>
            <a:endParaRPr sz="1500" b="1">
              <a:solidFill>
                <a:srgbClr val="5D4037"/>
              </a:solidFill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5674994"/>
            <a:ext cx="228594" cy="1943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95327" y="5966460"/>
            <a:ext cx="4819529" cy="5257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 b="1">
                <a:solidFill>
                  <a:srgbClr val="5D4037"/>
                </a:solidFill>
              </a:rPr>
              <a:t>High-frequency issues</a:t>
            </a:r>
            <a:r>
              <a:rPr sz="1500" b="0">
                <a:solidFill>
                  <a:srgbClr val="333333"/>
                </a:solidFill>
              </a:rPr>
              <a:t> create the largest cumulative financial damage, even when individual impact is moderate </a:t>
            </a:r>
            <a:endParaRPr sz="1500" b="0">
              <a:solidFill>
                <a:srgbClr val="333333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86500" y="1389380"/>
            <a:ext cx="5513070" cy="3855085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4" name="TextBox 13"/>
          <p:cNvSpPr txBox="1"/>
          <p:nvPr/>
        </p:nvSpPr>
        <p:spPr>
          <a:xfrm>
            <a:off x="6524461" y="1644649"/>
            <a:ext cx="287464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500" b="1">
                <a:solidFill>
                  <a:srgbClr val="3E2723"/>
                </a:solidFill>
              </a:rPr>
              <a:t> </a:t>
            </a:r>
            <a:r>
              <a:rPr sz="1500"/>
              <a:t>  </a:t>
            </a:r>
            <a:r>
              <a:rPr sz="1500" b="1">
                <a:solidFill>
                  <a:srgbClr val="3E2723"/>
                </a:solidFill>
              </a:rPr>
              <a:t> Top 3 Issues by Financial Impact </a:t>
            </a:r>
            <a:endParaRPr sz="1500" b="1">
              <a:solidFill>
                <a:srgbClr val="3E2723"/>
              </a:solidFill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24461" y="1721167"/>
            <a:ext cx="228594" cy="17716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524625" y="2143125"/>
            <a:ext cx="4958715" cy="723900"/>
          </a:xfrm>
          <a:prstGeom prst="roundRect">
            <a:avLst>
              <a:gd name="adj" fmla="val 20000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7" name="Rounded Rectangle 16"/>
          <p:cNvSpPr/>
          <p:nvPr/>
        </p:nvSpPr>
        <p:spPr>
          <a:xfrm>
            <a:off x="6667333" y="229552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8" name="TextBox 17"/>
          <p:cNvSpPr txBox="1"/>
          <p:nvPr/>
        </p:nvSpPr>
        <p:spPr>
          <a:xfrm>
            <a:off x="6714958" y="2316162"/>
            <a:ext cx="24257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</a:rPr>
              <a:t>1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191195" y="2197099"/>
            <a:ext cx="219964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500" b="1">
                <a:solidFill>
                  <a:srgbClr val="3E2723"/>
                </a:solidFill>
              </a:rPr>
              <a:t>Client-Requested Changes</a:t>
            </a:r>
            <a:endParaRPr sz="1500" b="1">
              <a:solidFill>
                <a:srgbClr val="3E2723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91195" y="2459036"/>
            <a:ext cx="429196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4037"/>
                </a:solidFill>
              </a:rPr>
              <a:t>₹221,141 total impact | 6 projects | 6.2% avg overrun</a:t>
            </a:r>
            <a:endParaRPr sz="1500" b="0">
              <a:solidFill>
                <a:srgbClr val="5D4037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524625" y="2985770"/>
            <a:ext cx="5007610" cy="786130"/>
          </a:xfrm>
          <a:prstGeom prst="roundRect">
            <a:avLst>
              <a:gd name="adj" fmla="val 20000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2" name="Rounded Rectangle 21"/>
          <p:cNvSpPr/>
          <p:nvPr/>
        </p:nvSpPr>
        <p:spPr>
          <a:xfrm>
            <a:off x="6667333" y="32004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3" name="TextBox 22"/>
          <p:cNvSpPr txBox="1"/>
          <p:nvPr/>
        </p:nvSpPr>
        <p:spPr>
          <a:xfrm>
            <a:off x="6714958" y="3221037"/>
            <a:ext cx="24257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</a:rPr>
              <a:t>2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191195" y="3101975"/>
            <a:ext cx="228409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500" b="1">
                <a:solidFill>
                  <a:srgbClr val="3E2723"/>
                </a:solidFill>
              </a:rPr>
              <a:t>Supplier Delays in Plywood</a:t>
            </a:r>
            <a:endParaRPr sz="1500" b="1">
              <a:solidFill>
                <a:srgbClr val="3E2723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191195" y="3363912"/>
            <a:ext cx="438848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4037"/>
                </a:solidFill>
              </a:rPr>
              <a:t>₹195,630 total impact | 5 projects | 7.34% avg overrun</a:t>
            </a:r>
            <a:endParaRPr sz="1500" b="0">
              <a:solidFill>
                <a:srgbClr val="5D4037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524625" y="3914140"/>
            <a:ext cx="4958715" cy="762635"/>
          </a:xfrm>
          <a:prstGeom prst="roundRect">
            <a:avLst>
              <a:gd name="adj" fmla="val 20000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7" name="Rounded Rectangle 26"/>
          <p:cNvSpPr/>
          <p:nvPr/>
        </p:nvSpPr>
        <p:spPr>
          <a:xfrm>
            <a:off x="6667333" y="4105274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8" name="TextBox 27"/>
          <p:cNvSpPr txBox="1"/>
          <p:nvPr/>
        </p:nvSpPr>
        <p:spPr>
          <a:xfrm>
            <a:off x="6705433" y="4125911"/>
            <a:ext cx="24257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</a:rPr>
              <a:t>3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191195" y="4006850"/>
            <a:ext cx="277685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500" b="1">
                <a:solidFill>
                  <a:srgbClr val="3E2723"/>
                </a:solidFill>
              </a:rPr>
              <a:t>Labor Shortages (Festival Season)</a:t>
            </a:r>
            <a:endParaRPr sz="1500" b="1">
              <a:solidFill>
                <a:srgbClr val="3E2723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191195" y="4268787"/>
            <a:ext cx="429196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4037"/>
                </a:solidFill>
              </a:rPr>
              <a:t>₹122,413 total impact | 3 projects | 7.2% avg overrun</a:t>
            </a:r>
            <a:endParaRPr sz="1500" b="0">
              <a:solidFill>
                <a:srgbClr val="5D4037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286342" y="5467349"/>
            <a:ext cx="5238619" cy="1190625"/>
          </a:xfrm>
          <a:prstGeom prst="roundRect">
            <a:avLst>
              <a:gd name="adj" fmla="val 6400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5757070" y="5996621"/>
            <a:ext cx="11906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D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3" name="TextBox 32"/>
          <p:cNvSpPr txBox="1"/>
          <p:nvPr/>
        </p:nvSpPr>
        <p:spPr>
          <a:xfrm>
            <a:off x="6514937" y="5607050"/>
            <a:ext cx="207073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500" b="1">
                <a:solidFill>
                  <a:srgbClr val="5D4037"/>
                </a:solidFill>
              </a:rPr>
              <a:t> </a:t>
            </a:r>
            <a:r>
              <a:rPr sz="1500"/>
              <a:t>  </a:t>
            </a:r>
            <a:r>
              <a:rPr sz="1500" b="1">
                <a:solidFill>
                  <a:srgbClr val="5D4037"/>
                </a:solidFill>
              </a:rPr>
              <a:t> Strategic Opportunity </a:t>
            </a:r>
            <a:endParaRPr sz="1500" b="1">
              <a:solidFill>
                <a:srgbClr val="5D4037"/>
              </a:solidFill>
            </a:endParaRP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514937" y="5686425"/>
            <a:ext cx="228594" cy="17145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514937" y="5966460"/>
            <a:ext cx="4819529" cy="5257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</a:rPr>
              <a:t> Addressing the top 3 issues would mitigate </a:t>
            </a:r>
            <a:r>
              <a:rPr sz="1500" b="1">
                <a:solidFill>
                  <a:srgbClr val="5D4037"/>
                </a:solidFill>
              </a:rPr>
              <a:t>₹539,184 (57%)</a:t>
            </a:r>
            <a:r>
              <a:rPr sz="1500" b="0">
                <a:solidFill>
                  <a:srgbClr val="333333"/>
                </a:solidFill>
              </a:rPr>
              <a:t> of the total overrun amount </a:t>
            </a:r>
            <a:endParaRPr sz="1500" b="0">
              <a:solidFill>
                <a:srgbClr val="333333"/>
              </a:solidFill>
            </a:endParaRPr>
          </a:p>
        </p:txBody>
      </p:sp>
      <p:sp>
        <p:nvSpPr>
          <p:cNvPr id="43" name="Text Box 42"/>
          <p:cNvSpPr txBox="1"/>
          <p:nvPr/>
        </p:nvSpPr>
        <p:spPr>
          <a:xfrm>
            <a:off x="2713990" y="5128260"/>
            <a:ext cx="1373505" cy="250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GB"/>
              <a:t>Figure no. 5</a:t>
            </a:r>
            <a:endParaRPr lang="en-IN" alt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04874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" name="TextBox 2"/>
          <p:cNvSpPr txBox="1"/>
          <p:nvPr/>
        </p:nvSpPr>
        <p:spPr>
          <a:xfrm>
            <a:off x="666733" y="238442"/>
            <a:ext cx="4335145" cy="57086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N" sz="3000" b="1">
                <a:solidFill>
                  <a:srgbClr val="FFFFFF"/>
                </a:solidFill>
                <a:sym typeface="+mn-ea"/>
              </a:rPr>
              <a:t>Slide 9: </a:t>
            </a:r>
            <a:r>
              <a:rPr sz="3000" b="1">
                <a:solidFill>
                  <a:srgbClr val="FFFFFF"/>
                </a:solidFill>
              </a:rPr>
              <a:t>Recommendations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66750" y="1095375"/>
            <a:ext cx="3495675" cy="2723515"/>
          </a:xfrm>
          <a:prstGeom prst="roundRect">
            <a:avLst>
              <a:gd name="adj" fmla="val 435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5" name="Rounded Rectangle 4"/>
          <p:cNvSpPr/>
          <p:nvPr/>
        </p:nvSpPr>
        <p:spPr>
          <a:xfrm>
            <a:off x="838179" y="126682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">
            <a:alphaModFix amt="100000"/>
          </a:blip>
          <a:stretch>
            <a:fillRect/>
          </a:stretch>
        </p:blipFill>
        <p:spPr>
          <a:xfrm>
            <a:off x="942951" y="1400589"/>
            <a:ext cx="266693" cy="2087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20825" y="1409065"/>
            <a:ext cx="2409825" cy="324485"/>
          </a:xfrm>
          <a:prstGeom prst="rect">
            <a:avLst/>
          </a:prstGeom>
          <a:noFill/>
        </p:spPr>
        <p:txBody>
          <a:bodyPr wrap="none" lIns="73152" tIns="54864" rIns="73152" bIns="54864" anchor="ctr">
            <a:no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500" b="1">
                <a:solidFill>
                  <a:srgbClr val="3E2723"/>
                </a:solidFill>
              </a:rPr>
              <a:t>Data-Driven Quoting Buffer</a:t>
            </a:r>
            <a:endParaRPr sz="1500" b="1">
              <a:solidFill>
                <a:srgbClr val="3E2723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8179" y="1848168"/>
            <a:ext cx="1365250" cy="27559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650"/>
              </a:spcAft>
            </a:pP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/>
              <a:t>  </a:t>
            </a:r>
            <a:r>
              <a:rPr sz="1500" b="0">
                <a:solidFill>
                  <a:srgbClr val="333333"/>
                </a:solidFill>
              </a:rPr>
              <a:t> Default: </a:t>
            </a:r>
            <a:r>
              <a:rPr sz="1500" b="1">
                <a:solidFill>
                  <a:srgbClr val="5D4037"/>
                </a:solidFill>
              </a:rPr>
              <a:t>7%</a:t>
            </a:r>
            <a:r>
              <a:rPr sz="1500" b="0">
                <a:solidFill>
                  <a:srgbClr val="333333"/>
                </a:solidFill>
              </a:rPr>
              <a:t> 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38179" y="1886216"/>
            <a:ext cx="171445" cy="14932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8179" y="2086292"/>
            <a:ext cx="2287905" cy="27559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650"/>
              </a:spcAft>
            </a:pP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/>
              <a:t>  </a:t>
            </a:r>
            <a:r>
              <a:rPr sz="1500" b="0">
                <a:solidFill>
                  <a:srgbClr val="333333"/>
                </a:solidFill>
              </a:rPr>
              <a:t> Size-based adjustments 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38179" y="2124341"/>
            <a:ext cx="171445" cy="14932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8179" y="2361248"/>
            <a:ext cx="1375410" cy="27559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650"/>
              </a:spcAft>
            </a:pP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/>
              <a:t>  </a:t>
            </a:r>
            <a:r>
              <a:rPr sz="1500" b="0">
                <a:solidFill>
                  <a:srgbClr val="333333"/>
                </a:solidFill>
              </a:rPr>
              <a:t> Small: </a:t>
            </a:r>
            <a:r>
              <a:rPr sz="1500" b="1">
                <a:solidFill>
                  <a:srgbClr val="5D4037"/>
                </a:solidFill>
              </a:rPr>
              <a:t>5-7%</a:t>
            </a:r>
            <a:r>
              <a:rPr sz="1500" b="0">
                <a:solidFill>
                  <a:srgbClr val="333333"/>
                </a:solidFill>
              </a:rPr>
              <a:t> 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38179" y="2384691"/>
            <a:ext cx="171445" cy="14932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8179" y="2591118"/>
            <a:ext cx="1706880" cy="27559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650"/>
              </a:spcAft>
            </a:pP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/>
              <a:t>  </a:t>
            </a:r>
            <a:r>
              <a:rPr sz="1500" b="0">
                <a:solidFill>
                  <a:srgbClr val="333333"/>
                </a:solidFill>
              </a:rPr>
              <a:t> Medium: </a:t>
            </a:r>
            <a:r>
              <a:rPr sz="1500" b="1">
                <a:solidFill>
                  <a:srgbClr val="5D4037"/>
                </a:solidFill>
              </a:rPr>
              <a:t>8-10%</a:t>
            </a:r>
            <a:r>
              <a:rPr sz="1500" b="0">
                <a:solidFill>
                  <a:srgbClr val="333333"/>
                </a:solidFill>
              </a:rPr>
              <a:t> 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38179" y="2656471"/>
            <a:ext cx="171445" cy="14932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7725" y="2828925"/>
            <a:ext cx="1553845" cy="234315"/>
          </a:xfrm>
          <a:prstGeom prst="rect">
            <a:avLst/>
          </a:prstGeom>
          <a:noFill/>
        </p:spPr>
        <p:txBody>
          <a:bodyPr wrap="none" lIns="182880" tIns="54864" rIns="73152" bIns="54864" anchor="ctr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650"/>
              </a:spcAft>
            </a:pP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/>
              <a:t>  </a:t>
            </a:r>
            <a:r>
              <a:rPr sz="1500" b="0">
                <a:solidFill>
                  <a:srgbClr val="333333"/>
                </a:solidFill>
              </a:rPr>
              <a:t> Large: </a:t>
            </a:r>
            <a:r>
              <a:rPr sz="1500" b="1">
                <a:solidFill>
                  <a:srgbClr val="5D4037"/>
                </a:solidFill>
              </a:rPr>
              <a:t>6-8%</a:t>
            </a:r>
            <a:r>
              <a:rPr sz="1500" b="0">
                <a:solidFill>
                  <a:srgbClr val="333333"/>
                </a:solidFill>
              </a:rPr>
              <a:t> 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38179" y="2883801"/>
            <a:ext cx="171445" cy="14932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742929" y="3063239"/>
            <a:ext cx="3152696" cy="609600"/>
          </a:xfrm>
          <a:prstGeom prst="roundRect">
            <a:avLst>
              <a:gd name="adj" fmla="val 18750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9" name="TextBox 18"/>
          <p:cNvSpPr txBox="1"/>
          <p:nvPr/>
        </p:nvSpPr>
        <p:spPr>
          <a:xfrm>
            <a:off x="838176" y="3059113"/>
            <a:ext cx="173609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"/>
              </a:spcAft>
            </a:pPr>
            <a:r>
              <a:rPr sz="1500" b="0">
                <a:solidFill>
                  <a:srgbClr val="5D4037"/>
                </a:solidFill>
              </a:rPr>
              <a:t>Target: Cost Overrun</a:t>
            </a:r>
            <a:endParaRPr sz="1500" b="0">
              <a:solidFill>
                <a:srgbClr val="5D4037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33426" y="3292475"/>
            <a:ext cx="51943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E2723"/>
                </a:solidFill>
              </a:rPr>
              <a:t>≤ 2%</a:t>
            </a:r>
            <a:endParaRPr sz="1500" b="1">
              <a:solidFill>
                <a:srgbClr val="3E2723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352925" y="1095375"/>
            <a:ext cx="3495675" cy="2724150"/>
          </a:xfrm>
          <a:prstGeom prst="roundRect">
            <a:avLst>
              <a:gd name="adj" fmla="val 435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2" name="Rounded Rectangle 21"/>
          <p:cNvSpPr/>
          <p:nvPr/>
        </p:nvSpPr>
        <p:spPr>
          <a:xfrm>
            <a:off x="4524261" y="126682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629034" y="1390442"/>
            <a:ext cx="266693" cy="22901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177790" y="1351915"/>
            <a:ext cx="2385060" cy="381635"/>
          </a:xfrm>
          <a:prstGeom prst="rect">
            <a:avLst/>
          </a:prstGeom>
          <a:noFill/>
        </p:spPr>
        <p:txBody>
          <a:bodyPr wrap="none" lIns="73152" tIns="54864" rIns="73152" bIns="54864" anchor="ctr">
            <a:no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500" b="1">
                <a:solidFill>
                  <a:srgbClr val="3E2723"/>
                </a:solidFill>
              </a:rPr>
              <a:t>Formal Change-Order Process</a:t>
            </a:r>
            <a:endParaRPr sz="1500" b="1">
              <a:solidFill>
                <a:srgbClr val="3E2723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24261" y="1848168"/>
            <a:ext cx="2367280" cy="27559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650"/>
              </a:spcAft>
            </a:pP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/>
              <a:t>  </a:t>
            </a:r>
            <a:r>
              <a:rPr sz="1500" b="0">
                <a:solidFill>
                  <a:srgbClr val="333333"/>
                </a:solidFill>
              </a:rPr>
              <a:t> Written change requests 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524261" y="2249436"/>
            <a:ext cx="171445" cy="14932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524261" y="2146617"/>
            <a:ext cx="2093595" cy="27559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650"/>
              </a:spcAft>
            </a:pP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/>
              <a:t>  </a:t>
            </a:r>
            <a:r>
              <a:rPr sz="1500" b="0">
                <a:solidFill>
                  <a:srgbClr val="333333"/>
                </a:solidFill>
              </a:rPr>
              <a:t> Priced change orders 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524261" y="2544711"/>
            <a:ext cx="171445" cy="14932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524261" y="2456498"/>
            <a:ext cx="2247900" cy="27559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650"/>
              </a:spcAft>
            </a:pP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/>
              <a:t>  </a:t>
            </a:r>
            <a:r>
              <a:rPr sz="1500" b="0">
                <a:solidFill>
                  <a:srgbClr val="333333"/>
                </a:solidFill>
              </a:rPr>
              <a:t> Client sign-off required 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524261" y="2839986"/>
            <a:ext cx="171445" cy="14932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524261" y="2768283"/>
            <a:ext cx="2576195" cy="27559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650"/>
              </a:spcAft>
            </a:pP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/>
              <a:t>  </a:t>
            </a: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 b="1">
                <a:solidFill>
                  <a:srgbClr val="5D4037"/>
                </a:solidFill>
              </a:rPr>
              <a:t>15% premium</a:t>
            </a:r>
            <a:r>
              <a:rPr sz="1500" b="0">
                <a:solidFill>
                  <a:srgbClr val="333333"/>
                </a:solidFill>
              </a:rPr>
              <a:t> after week 2 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524261" y="1937016"/>
            <a:ext cx="171445" cy="149327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4524261" y="3063239"/>
            <a:ext cx="3152696" cy="609600"/>
          </a:xfrm>
          <a:prstGeom prst="roundRect">
            <a:avLst>
              <a:gd name="adj" fmla="val 18750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4" name="TextBox 33"/>
          <p:cNvSpPr txBox="1"/>
          <p:nvPr/>
        </p:nvSpPr>
        <p:spPr>
          <a:xfrm>
            <a:off x="4600459" y="3059113"/>
            <a:ext cx="185801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"/>
              </a:spcAft>
            </a:pPr>
            <a:r>
              <a:rPr sz="1500" b="0">
                <a:solidFill>
                  <a:srgbClr val="5D4037"/>
                </a:solidFill>
              </a:rPr>
              <a:t>Target: Change Orders</a:t>
            </a:r>
            <a:endParaRPr sz="1500" b="0">
              <a:solidFill>
                <a:srgbClr val="5D4037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619509" y="3302000"/>
            <a:ext cx="150177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E2723"/>
                </a:solidFill>
              </a:rPr>
              <a:t>≤ 30% of projects</a:t>
            </a:r>
            <a:endParaRPr sz="1500" b="1">
              <a:solidFill>
                <a:srgbClr val="3E2723"/>
              </a:solidFill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8029575" y="1095375"/>
            <a:ext cx="3495675" cy="2723515"/>
          </a:xfrm>
          <a:prstGeom prst="roundRect">
            <a:avLst>
              <a:gd name="adj" fmla="val 435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7" name="Rounded Rectangle 36"/>
          <p:cNvSpPr/>
          <p:nvPr/>
        </p:nvSpPr>
        <p:spPr>
          <a:xfrm>
            <a:off x="8200819" y="126682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305592" y="1409285"/>
            <a:ext cx="266693" cy="1913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815070" y="1409065"/>
            <a:ext cx="2059305" cy="253365"/>
          </a:xfrm>
          <a:prstGeom prst="rect">
            <a:avLst/>
          </a:prstGeom>
          <a:noFill/>
        </p:spPr>
        <p:txBody>
          <a:bodyPr wrap="none" lIns="73152" tIns="54864" rIns="73152" bIns="54864" anchor="ctr">
            <a:no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500" b="1">
                <a:solidFill>
                  <a:srgbClr val="3E2723"/>
                </a:solidFill>
              </a:rPr>
              <a:t>Supplier Management</a:t>
            </a:r>
            <a:endParaRPr sz="1500" b="1">
              <a:solidFill>
                <a:srgbClr val="3E2723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191294" y="1886268"/>
            <a:ext cx="2734945" cy="27559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650"/>
              </a:spcAft>
            </a:pP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/>
              <a:t>  </a:t>
            </a:r>
            <a:r>
              <a:rPr sz="1500" b="0">
                <a:solidFill>
                  <a:srgbClr val="333333"/>
                </a:solidFill>
              </a:rPr>
              <a:t> Negotiate SLAs for lead times 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200819" y="2249436"/>
            <a:ext cx="171445" cy="14932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200819" y="2191067"/>
            <a:ext cx="2112645" cy="27559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650"/>
              </a:spcAft>
            </a:pP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/>
              <a:t>  </a:t>
            </a:r>
            <a:r>
              <a:rPr sz="1500" b="0">
                <a:solidFill>
                  <a:srgbClr val="333333"/>
                </a:solidFill>
              </a:rPr>
              <a:t> Maintain safety stock 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200819" y="2544711"/>
            <a:ext cx="171445" cy="14932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200819" y="2457768"/>
            <a:ext cx="2319020" cy="27559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650"/>
              </a:spcAft>
            </a:pP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/>
              <a:t>  </a:t>
            </a:r>
            <a:r>
              <a:rPr sz="1500" b="0">
                <a:solidFill>
                  <a:srgbClr val="333333"/>
                </a:solidFill>
              </a:rPr>
              <a:t> Build backup vendor list 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200819" y="2839986"/>
            <a:ext cx="171445" cy="14932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200819" y="2772093"/>
            <a:ext cx="2140585" cy="27559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650"/>
              </a:spcAft>
            </a:pP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/>
              <a:t>  </a:t>
            </a: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 b="1">
                <a:solidFill>
                  <a:srgbClr val="5D4037"/>
                </a:solidFill>
              </a:rPr>
              <a:t>2% penalty</a:t>
            </a:r>
            <a:r>
              <a:rPr sz="1500" b="0">
                <a:solidFill>
                  <a:srgbClr val="333333"/>
                </a:solidFill>
              </a:rPr>
              <a:t> for delays 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200819" y="1925586"/>
            <a:ext cx="171445" cy="149327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8267494" y="3044189"/>
            <a:ext cx="3152696" cy="609600"/>
          </a:xfrm>
          <a:prstGeom prst="roundRect">
            <a:avLst>
              <a:gd name="adj" fmla="val 18750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49" name="TextBox 48"/>
          <p:cNvSpPr txBox="1"/>
          <p:nvPr/>
        </p:nvSpPr>
        <p:spPr>
          <a:xfrm>
            <a:off x="8372267" y="3059113"/>
            <a:ext cx="206057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"/>
              </a:spcAft>
            </a:pPr>
            <a:r>
              <a:rPr sz="1500" b="0">
                <a:solidFill>
                  <a:srgbClr val="5D4037"/>
                </a:solidFill>
              </a:rPr>
              <a:t>Target: On-Time Delivery</a:t>
            </a:r>
            <a:endParaRPr sz="1500" b="0">
              <a:solidFill>
                <a:srgbClr val="5D4037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410367" y="3283585"/>
            <a:ext cx="61595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E2723"/>
                </a:solidFill>
              </a:rPr>
              <a:t>≥ 90%</a:t>
            </a:r>
            <a:endParaRPr sz="1500" b="1">
              <a:solidFill>
                <a:srgbClr val="3E2723"/>
              </a:solidFill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666750" y="3914775"/>
            <a:ext cx="3495675" cy="2770505"/>
          </a:xfrm>
          <a:prstGeom prst="roundRect">
            <a:avLst>
              <a:gd name="adj" fmla="val 47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52" name="Rounded Rectangle 51"/>
          <p:cNvSpPr/>
          <p:nvPr/>
        </p:nvSpPr>
        <p:spPr>
          <a:xfrm>
            <a:off x="838179" y="398653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42951" y="4155826"/>
            <a:ext cx="266693" cy="168136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427459" y="4100194"/>
            <a:ext cx="197294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500" b="1">
                <a:solidFill>
                  <a:srgbClr val="3E2723"/>
                </a:solidFill>
              </a:rPr>
              <a:t>Flexible Labor Planning</a:t>
            </a:r>
            <a:endParaRPr sz="1500" b="1">
              <a:solidFill>
                <a:srgbClr val="3E2723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009629" y="4686618"/>
            <a:ext cx="2670175" cy="27559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650"/>
              </a:spcAft>
            </a:pP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/>
              <a:t>  </a:t>
            </a:r>
            <a:r>
              <a:rPr sz="1500" b="0">
                <a:solidFill>
                  <a:srgbClr val="333333"/>
                </a:solidFill>
              </a:rPr>
              <a:t> Trusted subcontractor roster 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33429" y="4687201"/>
            <a:ext cx="171445" cy="149327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09629" y="4962208"/>
            <a:ext cx="2679700" cy="27559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650"/>
              </a:spcAft>
            </a:pP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/>
              <a:t>  </a:t>
            </a:r>
            <a:r>
              <a:rPr sz="1500" b="0">
                <a:solidFill>
                  <a:srgbClr val="333333"/>
                </a:solidFill>
              </a:rPr>
              <a:t> Pre-book for festival seasons 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42954" y="4951361"/>
            <a:ext cx="171445" cy="149327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009629" y="5243512"/>
            <a:ext cx="1686560" cy="27559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650"/>
              </a:spcAft>
            </a:pP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/>
              <a:t>  </a:t>
            </a:r>
            <a:r>
              <a:rPr sz="1500" b="0">
                <a:solidFill>
                  <a:srgbClr val="333333"/>
                </a:solidFill>
              </a:rPr>
              <a:t> Cross-train staff 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42954" y="5266956"/>
            <a:ext cx="171445" cy="149327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009629" y="5519102"/>
            <a:ext cx="2252980" cy="27559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650"/>
              </a:spcAft>
            </a:pP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/>
              <a:t>  </a:t>
            </a: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 b="1">
                <a:solidFill>
                  <a:srgbClr val="5D4037"/>
                </a:solidFill>
              </a:rPr>
              <a:t>Peak season surcharge</a:t>
            </a:r>
            <a:r>
              <a:rPr sz="1500" b="0">
                <a:solidFill>
                  <a:srgbClr val="333333"/>
                </a:solidFill>
              </a:rPr>
              <a:t> 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33429" y="5553341"/>
            <a:ext cx="171445" cy="149327"/>
          </a:xfrm>
          <a:prstGeom prst="rect">
            <a:avLst/>
          </a:prstGeom>
        </p:spPr>
      </p:pic>
      <p:sp>
        <p:nvSpPr>
          <p:cNvPr id="63" name="Rounded Rectangle 62"/>
          <p:cNvSpPr/>
          <p:nvPr/>
        </p:nvSpPr>
        <p:spPr>
          <a:xfrm>
            <a:off x="838179" y="5851525"/>
            <a:ext cx="3152696" cy="609600"/>
          </a:xfrm>
          <a:prstGeom prst="roundRect">
            <a:avLst>
              <a:gd name="adj" fmla="val 18750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64" name="TextBox 63"/>
          <p:cNvSpPr txBox="1"/>
          <p:nvPr/>
        </p:nvSpPr>
        <p:spPr>
          <a:xfrm>
            <a:off x="933426" y="5849938"/>
            <a:ext cx="181102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"/>
              </a:spcAft>
            </a:pPr>
            <a:r>
              <a:rPr sz="1500" b="0">
                <a:solidFill>
                  <a:srgbClr val="5D4037"/>
                </a:solidFill>
              </a:rPr>
              <a:t>Target: Average Delay</a:t>
            </a:r>
            <a:endParaRPr sz="1500" b="0">
              <a:solidFill>
                <a:srgbClr val="5D4037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68351" y="6073775"/>
            <a:ext cx="78105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E2723"/>
                </a:solidFill>
              </a:rPr>
              <a:t>≤ 2 days</a:t>
            </a:r>
            <a:endParaRPr sz="1500" b="1">
              <a:solidFill>
                <a:srgbClr val="3E2723"/>
              </a:solidFill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4352925" y="3914775"/>
            <a:ext cx="3495675" cy="2769870"/>
          </a:xfrm>
          <a:prstGeom prst="roundRect">
            <a:avLst>
              <a:gd name="adj" fmla="val 47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67" name="Rounded Rectangle 66"/>
          <p:cNvSpPr/>
          <p:nvPr/>
        </p:nvSpPr>
        <p:spPr>
          <a:xfrm>
            <a:off x="4508386" y="398653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609984" y="4126837"/>
            <a:ext cx="266693" cy="226115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084966" y="4100194"/>
            <a:ext cx="248031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500" b="1">
                <a:solidFill>
                  <a:srgbClr val="3E2723"/>
                </a:solidFill>
              </a:rPr>
              <a:t>Proportional Timeline Buffers</a:t>
            </a:r>
            <a:endParaRPr sz="1500" b="1">
              <a:solidFill>
                <a:srgbClr val="3E2723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4695711" y="4686618"/>
            <a:ext cx="2552700" cy="27559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650"/>
              </a:spcAft>
            </a:pP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/>
              <a:t>  </a:t>
            </a:r>
            <a:r>
              <a:rPr sz="1500" b="0">
                <a:solidFill>
                  <a:srgbClr val="333333"/>
                </a:solidFill>
              </a:rPr>
              <a:t> Replace fixed 2-day buffers 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733811" y="4706886"/>
            <a:ext cx="171445" cy="149327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4698886" y="4962208"/>
            <a:ext cx="2218690" cy="27559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650"/>
              </a:spcAft>
            </a:pP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/>
              <a:t>  </a:t>
            </a:r>
            <a:r>
              <a:rPr sz="1500" b="0">
                <a:solidFill>
                  <a:srgbClr val="333333"/>
                </a:solidFill>
              </a:rPr>
              <a:t> Add </a:t>
            </a:r>
            <a:r>
              <a:rPr sz="1500" b="1">
                <a:solidFill>
                  <a:srgbClr val="5D4037"/>
                </a:solidFill>
              </a:rPr>
              <a:t>5-10%</a:t>
            </a:r>
            <a:r>
              <a:rPr sz="1500" b="0">
                <a:solidFill>
                  <a:srgbClr val="333333"/>
                </a:solidFill>
              </a:rPr>
              <a:t> of duration 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724286" y="5026291"/>
            <a:ext cx="171445" cy="149327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4698886" y="5262562"/>
            <a:ext cx="2602865" cy="27559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650"/>
              </a:spcAft>
            </a:pP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/>
              <a:t>  </a:t>
            </a:r>
            <a:r>
              <a:rPr sz="1500" b="0">
                <a:solidFill>
                  <a:srgbClr val="333333"/>
                </a:solidFill>
              </a:rPr>
              <a:t> Higher for medium projects 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733811" y="5300611"/>
            <a:ext cx="171445" cy="149327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4698886" y="5581967"/>
            <a:ext cx="2310130" cy="27559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650"/>
              </a:spcAft>
            </a:pP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/>
              <a:t>  </a:t>
            </a:r>
            <a:r>
              <a:rPr sz="1500" b="0">
                <a:solidFill>
                  <a:srgbClr val="333333"/>
                </a:solidFill>
              </a:rPr>
              <a:t> Monitor d</a:t>
            </a:r>
            <a:r>
              <a:rPr lang="en-IN" sz="1500" b="0">
                <a:solidFill>
                  <a:srgbClr val="333333"/>
                </a:solidFill>
              </a:rPr>
              <a:t>a</a:t>
            </a:r>
            <a:r>
              <a:rPr sz="1500" b="0">
                <a:solidFill>
                  <a:srgbClr val="333333"/>
                </a:solidFill>
              </a:rPr>
              <a:t>elays weekly 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733811" y="5610491"/>
            <a:ext cx="171445" cy="149327"/>
          </a:xfrm>
          <a:prstGeom prst="rect">
            <a:avLst/>
          </a:prstGeom>
        </p:spPr>
      </p:pic>
      <p:sp>
        <p:nvSpPr>
          <p:cNvPr id="78" name="Rounded Rectangle 77"/>
          <p:cNvSpPr/>
          <p:nvPr/>
        </p:nvSpPr>
        <p:spPr>
          <a:xfrm>
            <a:off x="4524261" y="5857875"/>
            <a:ext cx="3152696" cy="609600"/>
          </a:xfrm>
          <a:prstGeom prst="roundRect">
            <a:avLst>
              <a:gd name="adj" fmla="val 18750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79" name="TextBox 78"/>
          <p:cNvSpPr txBox="1"/>
          <p:nvPr/>
        </p:nvSpPr>
        <p:spPr>
          <a:xfrm>
            <a:off x="4629034" y="5843588"/>
            <a:ext cx="195008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"/>
              </a:spcAft>
            </a:pPr>
            <a:r>
              <a:rPr sz="1500" b="0">
                <a:solidFill>
                  <a:srgbClr val="5D4037"/>
                </a:solidFill>
              </a:rPr>
              <a:t>Target: Buffer Coverage</a:t>
            </a:r>
            <a:endParaRPr sz="1500" b="0">
              <a:solidFill>
                <a:srgbClr val="5D4037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781434" y="6097270"/>
            <a:ext cx="61595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E2723"/>
                </a:solidFill>
              </a:rPr>
              <a:t>≥ 85%</a:t>
            </a:r>
            <a:endParaRPr sz="1500" b="1">
              <a:solidFill>
                <a:srgbClr val="3E2723"/>
              </a:solidFill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8029575" y="3914775"/>
            <a:ext cx="3495675" cy="2769870"/>
          </a:xfrm>
          <a:prstGeom prst="roundRect">
            <a:avLst>
              <a:gd name="adj" fmla="val 47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82" name="Rounded Rectangle 81"/>
          <p:cNvSpPr/>
          <p:nvPr/>
        </p:nvSpPr>
        <p:spPr>
          <a:xfrm>
            <a:off x="8200819" y="398653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296067" y="4127182"/>
            <a:ext cx="266693" cy="200025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8994569" y="4020819"/>
            <a:ext cx="158496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500" b="1">
                <a:solidFill>
                  <a:srgbClr val="3E2723"/>
                </a:solidFill>
              </a:rPr>
              <a:t>Treat Time as Cost</a:t>
            </a:r>
            <a:endParaRPr sz="1500" b="1">
              <a:solidFill>
                <a:srgbClr val="3E2723"/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8286544" y="4706303"/>
            <a:ext cx="2698115" cy="27559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650"/>
              </a:spcAft>
            </a:pP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/>
              <a:t>  </a:t>
            </a:r>
            <a:r>
              <a:rPr sz="1500" b="0">
                <a:solidFill>
                  <a:srgbClr val="333333"/>
                </a:solidFill>
              </a:rPr>
              <a:t> Track delay costs in real-time 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296069" y="5308866"/>
            <a:ext cx="171445" cy="149327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8336709" y="4991418"/>
            <a:ext cx="2386965" cy="27559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650"/>
              </a:spcAft>
            </a:pP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/>
              <a:t>  </a:t>
            </a: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 b="1">
                <a:solidFill>
                  <a:srgbClr val="5D4037"/>
                </a:solidFill>
              </a:rPr>
              <a:t>0.13%</a:t>
            </a:r>
            <a:r>
              <a:rPr sz="1500" b="0">
                <a:solidFill>
                  <a:srgbClr val="333333"/>
                </a:solidFill>
              </a:rPr>
              <a:t> cost per delay day 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324644" y="5621286"/>
            <a:ext cx="171445" cy="149327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8315119" y="5262561"/>
            <a:ext cx="2096135" cy="27559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650"/>
              </a:spcAft>
            </a:pP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/>
              <a:t>  </a:t>
            </a:r>
            <a:r>
              <a:rPr sz="1500" b="0">
                <a:solidFill>
                  <a:srgbClr val="333333"/>
                </a:solidFill>
              </a:rPr>
              <a:t> Early warning system 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90" name="Picture 8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296069" y="5032006"/>
            <a:ext cx="171445" cy="149327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8324644" y="5554027"/>
            <a:ext cx="2851150" cy="27559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650"/>
              </a:spcAft>
            </a:pP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/>
              <a:t>  </a:t>
            </a:r>
            <a:r>
              <a:rPr sz="1500" b="0">
                <a:solidFill>
                  <a:srgbClr val="333333"/>
                </a:solidFill>
              </a:rPr>
              <a:t> Delay as cost overrun indicator 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92" name="Picture 9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296069" y="4755146"/>
            <a:ext cx="171445" cy="149327"/>
          </a:xfrm>
          <a:prstGeom prst="rect">
            <a:avLst/>
          </a:prstGeom>
        </p:spPr>
      </p:pic>
      <p:sp>
        <p:nvSpPr>
          <p:cNvPr id="93" name="Rounded Rectangle 92"/>
          <p:cNvSpPr/>
          <p:nvPr/>
        </p:nvSpPr>
        <p:spPr>
          <a:xfrm>
            <a:off x="8200819" y="5857875"/>
            <a:ext cx="3152696" cy="609600"/>
          </a:xfrm>
          <a:prstGeom prst="roundRect">
            <a:avLst>
              <a:gd name="adj" fmla="val 18750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94" name="TextBox 93"/>
          <p:cNvSpPr txBox="1"/>
          <p:nvPr/>
        </p:nvSpPr>
        <p:spPr>
          <a:xfrm>
            <a:off x="8438942" y="5849938"/>
            <a:ext cx="173926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"/>
              </a:spcAft>
            </a:pPr>
            <a:r>
              <a:rPr sz="1500" b="0">
                <a:solidFill>
                  <a:srgbClr val="5D4037"/>
                </a:solidFill>
              </a:rPr>
              <a:t>Target: Profit Margin</a:t>
            </a:r>
            <a:endParaRPr sz="1500" b="0">
              <a:solidFill>
                <a:srgbClr val="5D4037"/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8438942" y="6097270"/>
            <a:ext cx="174688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E2723"/>
                </a:solidFill>
              </a:rPr>
              <a:t>+4-5% improvement</a:t>
            </a:r>
            <a:endParaRPr sz="1500" b="1">
              <a:solidFill>
                <a:srgbClr val="3E272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04874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" name="TextBox 2"/>
          <p:cNvSpPr txBox="1"/>
          <p:nvPr/>
        </p:nvSpPr>
        <p:spPr>
          <a:xfrm>
            <a:off x="666733" y="238442"/>
            <a:ext cx="4705350" cy="57086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N" sz="3000" b="1">
                <a:solidFill>
                  <a:srgbClr val="FFFFFF"/>
                </a:solidFill>
                <a:sym typeface="+mn-ea"/>
              </a:rPr>
              <a:t>Slide 10: </a:t>
            </a:r>
            <a:r>
              <a:rPr sz="3000" b="1">
                <a:solidFill>
                  <a:srgbClr val="FFFFFF"/>
                </a:solidFill>
              </a:rPr>
              <a:t>Expected Outcomes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66750" y="1095375"/>
            <a:ext cx="5334000" cy="2724150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5" name="Rounded Rectangle 4"/>
          <p:cNvSpPr/>
          <p:nvPr/>
        </p:nvSpPr>
        <p:spPr>
          <a:xfrm>
            <a:off x="857228" y="12858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">
            <a:alphaModFix amt="100000"/>
          </a:blip>
          <a:stretch>
            <a:fillRect/>
          </a:stretch>
        </p:blipFill>
        <p:spPr>
          <a:xfrm>
            <a:off x="990575" y="1489563"/>
            <a:ext cx="304792" cy="1641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84938" y="1360805"/>
            <a:ext cx="188468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500" b="1">
                <a:solidFill>
                  <a:srgbClr val="3E2723"/>
                </a:solidFill>
              </a:rPr>
              <a:t>Improved Profitability</a:t>
            </a:r>
            <a:endParaRPr sz="1500" b="1">
              <a:solidFill>
                <a:srgbClr val="3E2723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57228" y="1978025"/>
            <a:ext cx="2543111" cy="733424"/>
          </a:xfrm>
          <a:prstGeom prst="roundRect">
            <a:avLst>
              <a:gd name="adj" fmla="val 15584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9" name="TextBox 8"/>
          <p:cNvSpPr txBox="1"/>
          <p:nvPr/>
        </p:nvSpPr>
        <p:spPr>
          <a:xfrm>
            <a:off x="1028675" y="2372042"/>
            <a:ext cx="53657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"/>
              </a:spcAft>
            </a:pPr>
            <a:r>
              <a:rPr sz="1500" b="1">
                <a:solidFill>
                  <a:srgbClr val="5D4037"/>
                </a:solidFill>
              </a:rPr>
              <a:t>4-5%</a:t>
            </a:r>
            <a:endParaRPr sz="1500" b="1">
              <a:solidFill>
                <a:srgbClr val="5D4037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21360" y="2070416"/>
            <a:ext cx="254825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4037"/>
                </a:solidFill>
              </a:rPr>
              <a:t>Immediate Profit Improvement</a:t>
            </a:r>
            <a:endParaRPr sz="1500" b="0">
              <a:solidFill>
                <a:srgbClr val="5D4037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469552" y="1978025"/>
            <a:ext cx="2295467" cy="733424"/>
          </a:xfrm>
          <a:prstGeom prst="roundRect">
            <a:avLst>
              <a:gd name="adj" fmla="val 15584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2" name="TextBox 11"/>
          <p:cNvSpPr txBox="1"/>
          <p:nvPr/>
        </p:nvSpPr>
        <p:spPr>
          <a:xfrm>
            <a:off x="3628934" y="2372042"/>
            <a:ext cx="72961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"/>
              </a:spcAft>
            </a:pPr>
            <a:r>
              <a:rPr sz="1500" b="1">
                <a:solidFill>
                  <a:srgbClr val="5D4037"/>
                </a:solidFill>
              </a:rPr>
              <a:t>40-68%</a:t>
            </a:r>
            <a:endParaRPr sz="1500" b="1">
              <a:solidFill>
                <a:srgbClr val="5D4037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28934" y="2070416"/>
            <a:ext cx="220662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4037"/>
                </a:solidFill>
              </a:rPr>
              <a:t>Reduction in Profit Erosion</a:t>
            </a:r>
            <a:endParaRPr sz="1500" b="0">
              <a:solidFill>
                <a:srgbClr val="5D4037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1363" y="2864803"/>
            <a:ext cx="4197985" cy="27559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650"/>
              </a:spcAft>
            </a:pP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/>
              <a:t>  </a:t>
            </a: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 b="1">
                <a:solidFill>
                  <a:srgbClr val="5D4037"/>
                </a:solidFill>
              </a:rPr>
              <a:t>Data-driven buffers</a:t>
            </a:r>
            <a:r>
              <a:rPr sz="1500" b="0">
                <a:solidFill>
                  <a:srgbClr val="333333"/>
                </a:solidFill>
              </a:rPr>
              <a:t> for accurate cost estimation</a:t>
            </a:r>
            <a:r>
              <a:rPr sz="1500" b="0">
                <a:solidFill>
                  <a:srgbClr val="333333"/>
                </a:solidFill>
              </a:rPr>
              <a:t> 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21363" y="2866021"/>
            <a:ext cx="171445" cy="14932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21363" y="3170873"/>
            <a:ext cx="3739515" cy="27559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650"/>
              </a:spcAft>
            </a:pP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/>
              <a:t>  </a:t>
            </a:r>
            <a:r>
              <a:rPr sz="1500" b="0">
                <a:solidFill>
                  <a:srgbClr val="333333"/>
                </a:solidFill>
              </a:rPr>
              <a:t> Cost overruns reduced from </a:t>
            </a:r>
            <a:r>
              <a:rPr sz="1500" b="1">
                <a:solidFill>
                  <a:srgbClr val="5D4037"/>
                </a:solidFill>
              </a:rPr>
              <a:t>6.76% to ≤2%</a:t>
            </a:r>
            <a:r>
              <a:rPr sz="1500" b="0">
                <a:solidFill>
                  <a:srgbClr val="333333"/>
                </a:solidFill>
              </a:rPr>
              <a:t> 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21998" y="3447681"/>
            <a:ext cx="171445" cy="14932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41070" y="3447098"/>
            <a:ext cx="3528060" cy="275590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650"/>
              </a:spcAft>
            </a:pP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/>
              <a:t>  </a:t>
            </a:r>
            <a:r>
              <a:rPr sz="1500" b="0">
                <a:solidFill>
                  <a:srgbClr val="333333"/>
                </a:solidFill>
              </a:rPr>
              <a:t> Recovery of </a:t>
            </a:r>
            <a:r>
              <a:rPr sz="1500" b="1">
                <a:solidFill>
                  <a:srgbClr val="5D4037"/>
                </a:solidFill>
              </a:rPr>
              <a:t>₹539,184</a:t>
            </a:r>
            <a:r>
              <a:rPr sz="1500" b="0">
                <a:solidFill>
                  <a:srgbClr val="333333"/>
                </a:solidFill>
              </a:rPr>
              <a:t> from top 3 issues</a:t>
            </a:r>
            <a:r>
              <a:rPr sz="1500" b="0">
                <a:solidFill>
                  <a:srgbClr val="333333"/>
                </a:solidFill>
              </a:rPr>
              <a:t> 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21363" y="3171456"/>
            <a:ext cx="171445" cy="149327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191250" y="1095375"/>
            <a:ext cx="5334000" cy="2724150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1" name="Rounded Rectangle 20"/>
          <p:cNvSpPr/>
          <p:nvPr/>
        </p:nvSpPr>
        <p:spPr>
          <a:xfrm>
            <a:off x="6381590" y="12858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514937" y="1442671"/>
            <a:ext cx="304792" cy="25790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146130" y="1360805"/>
            <a:ext cx="240411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500" b="1">
                <a:solidFill>
                  <a:srgbClr val="3E2723"/>
                </a:solidFill>
              </a:rPr>
              <a:t>Better Customer Satisfaction</a:t>
            </a:r>
            <a:endParaRPr sz="1500" b="1">
              <a:solidFill>
                <a:srgbClr val="3E2723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81590" y="1978025"/>
            <a:ext cx="2352616" cy="733424"/>
          </a:xfrm>
          <a:prstGeom prst="roundRect">
            <a:avLst>
              <a:gd name="adj" fmla="val 15584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5" name="TextBox 24"/>
          <p:cNvSpPr txBox="1"/>
          <p:nvPr/>
        </p:nvSpPr>
        <p:spPr>
          <a:xfrm>
            <a:off x="6553037" y="2372042"/>
            <a:ext cx="47815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"/>
              </a:spcAft>
            </a:pPr>
            <a:r>
              <a:rPr sz="1500" b="1">
                <a:solidFill>
                  <a:srgbClr val="5D4037"/>
                </a:solidFill>
              </a:rPr>
              <a:t>50%</a:t>
            </a:r>
            <a:endParaRPr sz="1500" b="1">
              <a:solidFill>
                <a:srgbClr val="5D4037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25732" y="2070416"/>
            <a:ext cx="166243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4037"/>
                </a:solidFill>
              </a:rPr>
              <a:t>Reduction in Delays</a:t>
            </a:r>
            <a:endParaRPr sz="1500" b="0">
              <a:solidFill>
                <a:srgbClr val="5D4037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848503" y="1978025"/>
            <a:ext cx="2485962" cy="733424"/>
          </a:xfrm>
          <a:prstGeom prst="roundRect">
            <a:avLst>
              <a:gd name="adj" fmla="val 15584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8" name="TextBox 27"/>
          <p:cNvSpPr txBox="1"/>
          <p:nvPr/>
        </p:nvSpPr>
        <p:spPr>
          <a:xfrm>
            <a:off x="9143140" y="2372042"/>
            <a:ext cx="47815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"/>
              </a:spcAft>
            </a:pPr>
            <a:r>
              <a:rPr sz="1500" b="1">
                <a:solidFill>
                  <a:srgbClr val="5D4037"/>
                </a:solidFill>
              </a:rPr>
              <a:t>85%</a:t>
            </a:r>
            <a:endParaRPr sz="1500" b="1">
              <a:solidFill>
                <a:srgbClr val="5D4037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991375" y="2070416"/>
            <a:ext cx="188150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4037"/>
                </a:solidFill>
              </a:rPr>
              <a:t>On-Time Delivery Rate</a:t>
            </a:r>
            <a:endParaRPr sz="1500" b="0">
              <a:solidFill>
                <a:srgbClr val="5D4037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62565" y="2864803"/>
            <a:ext cx="3891915" cy="27559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650"/>
              </a:spcAft>
            </a:pP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/>
              <a:t>  </a:t>
            </a: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 b="1">
                <a:solidFill>
                  <a:srgbClr val="5D4037"/>
                </a:solidFill>
              </a:rPr>
              <a:t>Realistic timelines</a:t>
            </a:r>
            <a:r>
              <a:rPr sz="1500" b="0">
                <a:solidFill>
                  <a:srgbClr val="333333"/>
                </a:solidFill>
              </a:rPr>
              <a:t> with proportional buffers</a:t>
            </a:r>
            <a:r>
              <a:rPr sz="1500" b="0">
                <a:solidFill>
                  <a:srgbClr val="333333"/>
                </a:solidFill>
              </a:rPr>
              <a:t> 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419690" y="3192411"/>
            <a:ext cx="171445" cy="14932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579075" y="3170873"/>
            <a:ext cx="4178935" cy="27559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650"/>
              </a:spcAft>
            </a:pP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/>
              <a:t>  </a:t>
            </a:r>
            <a:r>
              <a:rPr sz="1500" b="0">
                <a:solidFill>
                  <a:srgbClr val="333333"/>
                </a:solidFill>
              </a:rPr>
              <a:t> Clear </a:t>
            </a:r>
            <a:r>
              <a:rPr sz="1500" b="1">
                <a:solidFill>
                  <a:srgbClr val="5D4037"/>
                </a:solidFill>
              </a:rPr>
              <a:t>change-order process</a:t>
            </a:r>
            <a:r>
              <a:rPr sz="1500" b="0">
                <a:solidFill>
                  <a:srgbClr val="333333"/>
                </a:solidFill>
              </a:rPr>
              <a:t> with client approval</a:t>
            </a:r>
            <a:r>
              <a:rPr sz="1500" b="0">
                <a:solidFill>
                  <a:srgbClr val="333333"/>
                </a:solidFill>
              </a:rPr>
              <a:t> 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419690" y="3449586"/>
            <a:ext cx="171445" cy="14932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600665" y="3447096"/>
            <a:ext cx="3386455" cy="27559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650"/>
              </a:spcAft>
            </a:pP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/>
              <a:t>  </a:t>
            </a: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 b="1">
                <a:solidFill>
                  <a:srgbClr val="5D4037"/>
                </a:solidFill>
              </a:rPr>
              <a:t>Transparent pricing</a:t>
            </a:r>
            <a:r>
              <a:rPr sz="1500" b="0">
                <a:solidFill>
                  <a:srgbClr val="333333"/>
                </a:solidFill>
              </a:rPr>
              <a:t> reduces surprises</a:t>
            </a:r>
            <a:r>
              <a:rPr sz="1500" b="0">
                <a:solidFill>
                  <a:srgbClr val="333333"/>
                </a:solidFill>
              </a:rPr>
              <a:t> 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429215" y="2895231"/>
            <a:ext cx="171445" cy="149327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666750" y="4010025"/>
            <a:ext cx="5334000" cy="2686050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7" name="Rounded Rectangle 36"/>
          <p:cNvSpPr/>
          <p:nvPr/>
        </p:nvSpPr>
        <p:spPr>
          <a:xfrm>
            <a:off x="857228" y="409511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71525" y="4247466"/>
            <a:ext cx="304792" cy="25790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584938" y="4247515"/>
            <a:ext cx="199453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500" b="1">
                <a:solidFill>
                  <a:srgbClr val="3E2723"/>
                </a:solidFill>
              </a:rPr>
              <a:t>Competitive Advantage</a:t>
            </a:r>
            <a:endParaRPr sz="1500" b="1">
              <a:solidFill>
                <a:srgbClr val="3E2723"/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857228" y="4766945"/>
            <a:ext cx="2285942" cy="733424"/>
          </a:xfrm>
          <a:prstGeom prst="roundRect">
            <a:avLst>
              <a:gd name="adj" fmla="val 15584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41" name="TextBox 40"/>
          <p:cNvSpPr txBox="1"/>
          <p:nvPr/>
        </p:nvSpPr>
        <p:spPr>
          <a:xfrm>
            <a:off x="1276325" y="5091747"/>
            <a:ext cx="47815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"/>
              </a:spcAft>
            </a:pPr>
            <a:r>
              <a:rPr sz="1500" b="1">
                <a:solidFill>
                  <a:srgbClr val="5D4037"/>
                </a:solidFill>
              </a:rPr>
              <a:t>15%</a:t>
            </a:r>
            <a:endParaRPr sz="1500" b="1">
              <a:solidFill>
                <a:srgbClr val="5D4037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28675" y="4826952"/>
            <a:ext cx="181038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4037"/>
                </a:solidFill>
              </a:rPr>
              <a:t>Market Share Growth</a:t>
            </a:r>
            <a:endParaRPr sz="1500" b="0">
              <a:solidFill>
                <a:srgbClr val="5D4037"/>
              </a:solidFill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3257468" y="4766945"/>
            <a:ext cx="2552636" cy="733424"/>
          </a:xfrm>
          <a:prstGeom prst="roundRect">
            <a:avLst>
              <a:gd name="adj" fmla="val 15584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44" name="TextBox 43"/>
          <p:cNvSpPr txBox="1"/>
          <p:nvPr/>
        </p:nvSpPr>
        <p:spPr>
          <a:xfrm>
            <a:off x="3579410" y="5091747"/>
            <a:ext cx="47815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"/>
              </a:spcAft>
            </a:pPr>
            <a:r>
              <a:rPr sz="1500" b="1">
                <a:solidFill>
                  <a:srgbClr val="5D4037"/>
                </a:solidFill>
              </a:rPr>
              <a:t>30%</a:t>
            </a:r>
            <a:endParaRPr sz="1500" b="1">
              <a:solidFill>
                <a:srgbClr val="5D4037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469555" y="4826952"/>
            <a:ext cx="215074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4037"/>
                </a:solidFill>
              </a:rPr>
              <a:t>Referral Business Increase</a:t>
            </a:r>
            <a:endParaRPr sz="1500" b="0">
              <a:solidFill>
                <a:srgbClr val="5D4037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28678" y="5776278"/>
            <a:ext cx="4119880" cy="27559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650"/>
              </a:spcAft>
            </a:pP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/>
              <a:t>  </a:t>
            </a:r>
            <a:r>
              <a:rPr sz="1500" b="0">
                <a:solidFill>
                  <a:srgbClr val="333333"/>
                </a:solidFill>
              </a:rPr>
              <a:t> Reputation for </a:t>
            </a:r>
            <a:r>
              <a:rPr sz="1500" b="1">
                <a:solidFill>
                  <a:srgbClr val="5D4037"/>
                </a:solidFill>
              </a:rPr>
              <a:t>reliable delivery</a:t>
            </a:r>
            <a:r>
              <a:rPr sz="1500" b="0">
                <a:solidFill>
                  <a:srgbClr val="333333"/>
                </a:solidFill>
              </a:rPr>
              <a:t> in Pune market</a:t>
            </a:r>
            <a:r>
              <a:rPr sz="1500" b="0">
                <a:solidFill>
                  <a:srgbClr val="333333"/>
                </a:solidFill>
              </a:rPr>
              <a:t> 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28678" y="5805436"/>
            <a:ext cx="171445" cy="149327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19788" y="6035993"/>
            <a:ext cx="3305810" cy="27559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650"/>
              </a:spcAft>
            </a:pP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/>
              <a:t>  </a:t>
            </a:r>
            <a:r>
              <a:rPr sz="1500" b="0">
                <a:solidFill>
                  <a:srgbClr val="333333"/>
                </a:solidFill>
              </a:rPr>
              <a:t> Confidence to handle </a:t>
            </a:r>
            <a:r>
              <a:rPr sz="1500" b="1">
                <a:solidFill>
                  <a:srgbClr val="5D4037"/>
                </a:solidFill>
              </a:rPr>
              <a:t>larger projects</a:t>
            </a:r>
            <a:r>
              <a:rPr sz="1500" b="0">
                <a:solidFill>
                  <a:srgbClr val="333333"/>
                </a:solidFill>
              </a:rPr>
              <a:t> 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49633" y="6091186"/>
            <a:ext cx="171445" cy="14932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049633" y="6303327"/>
            <a:ext cx="2883535" cy="27559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650"/>
              </a:spcAft>
            </a:pP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/>
              <a:t>  </a:t>
            </a:r>
            <a:r>
              <a:rPr sz="1500" b="0">
                <a:solidFill>
                  <a:srgbClr val="333333"/>
                </a:solidFill>
              </a:rPr>
              <a:t> Stronger </a:t>
            </a:r>
            <a:r>
              <a:rPr sz="1500" b="1">
                <a:solidFill>
                  <a:srgbClr val="5D4037"/>
                </a:solidFill>
              </a:rPr>
              <a:t>supplier relationships</a:t>
            </a:r>
            <a:r>
              <a:rPr sz="1500" b="0">
                <a:solidFill>
                  <a:srgbClr val="333333"/>
                </a:solidFill>
              </a:rPr>
              <a:t> 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49633" y="6341376"/>
            <a:ext cx="171445" cy="149327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6191250" y="4010025"/>
            <a:ext cx="5334000" cy="2685415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53" name="Rounded Rectangle 52"/>
          <p:cNvSpPr/>
          <p:nvPr/>
        </p:nvSpPr>
        <p:spPr>
          <a:xfrm>
            <a:off x="6381590" y="409511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525732" y="4237208"/>
            <a:ext cx="304792" cy="240323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146130" y="4247515"/>
            <a:ext cx="147066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500" b="1">
                <a:solidFill>
                  <a:srgbClr val="3E2723"/>
                </a:solidFill>
              </a:rPr>
              <a:t>Business Growth</a:t>
            </a:r>
            <a:endParaRPr sz="1500" b="1">
              <a:solidFill>
                <a:srgbClr val="3E2723"/>
              </a:solidFill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6381590" y="4766945"/>
            <a:ext cx="2609784" cy="733424"/>
          </a:xfrm>
          <a:prstGeom prst="roundRect">
            <a:avLst>
              <a:gd name="adj" fmla="val 15584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57" name="TextBox 56"/>
          <p:cNvSpPr txBox="1"/>
          <p:nvPr/>
        </p:nvSpPr>
        <p:spPr>
          <a:xfrm>
            <a:off x="6819737" y="5091747"/>
            <a:ext cx="47815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"/>
              </a:spcAft>
            </a:pPr>
            <a:r>
              <a:rPr sz="1500" b="1">
                <a:solidFill>
                  <a:srgbClr val="5D4037"/>
                </a:solidFill>
              </a:rPr>
              <a:t>25%</a:t>
            </a:r>
            <a:endParaRPr sz="1500" b="1">
              <a:solidFill>
                <a:srgbClr val="5D4037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495887" y="4826952"/>
            <a:ext cx="202819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4037"/>
                </a:solidFill>
              </a:rPr>
              <a:t>Annual Revenue Growth</a:t>
            </a:r>
            <a:endParaRPr sz="1500" b="0">
              <a:solidFill>
                <a:srgbClr val="5D4037"/>
              </a:solidFill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9105672" y="4766945"/>
            <a:ext cx="2228794" cy="733424"/>
          </a:xfrm>
          <a:prstGeom prst="roundRect">
            <a:avLst>
              <a:gd name="adj" fmla="val 15584"/>
            </a:avLst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60" name="TextBox 59"/>
          <p:cNvSpPr txBox="1"/>
          <p:nvPr/>
        </p:nvSpPr>
        <p:spPr>
          <a:xfrm>
            <a:off x="9439044" y="5116511"/>
            <a:ext cx="330200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"/>
              </a:spcAft>
            </a:pPr>
            <a:r>
              <a:rPr sz="1500" b="1">
                <a:solidFill>
                  <a:srgbClr val="5D4037"/>
                </a:solidFill>
              </a:rPr>
              <a:t>2x</a:t>
            </a:r>
            <a:endParaRPr sz="1500" b="1">
              <a:solidFill>
                <a:srgbClr val="5D4037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9234574" y="4826952"/>
            <a:ext cx="1395095" cy="3397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4037"/>
                </a:solidFill>
              </a:rPr>
              <a:t>Project Capacity</a:t>
            </a:r>
            <a:endParaRPr sz="1500" b="0">
              <a:solidFill>
                <a:srgbClr val="5D4037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495890" y="5760403"/>
            <a:ext cx="2874645" cy="27559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650"/>
              </a:spcAft>
            </a:pP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/>
              <a:t>  </a:t>
            </a:r>
            <a:r>
              <a:rPr sz="1500" b="0">
                <a:solidFill>
                  <a:srgbClr val="333333"/>
                </a:solidFill>
              </a:rPr>
              <a:t> Scalable </a:t>
            </a:r>
            <a:r>
              <a:rPr sz="1500" b="1">
                <a:solidFill>
                  <a:srgbClr val="5D4037"/>
                </a:solidFill>
              </a:rPr>
              <a:t>operational processes</a:t>
            </a:r>
            <a:r>
              <a:rPr sz="1500" b="0">
                <a:solidFill>
                  <a:srgbClr val="333333"/>
                </a:solidFill>
              </a:rPr>
              <a:t> 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514940" y="6342011"/>
            <a:ext cx="171445" cy="149327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535260" y="6051868"/>
            <a:ext cx="2761615" cy="27559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650"/>
              </a:spcAft>
            </a:pP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/>
              <a:t>  </a:t>
            </a:r>
            <a:r>
              <a:rPr sz="1500" b="0">
                <a:solidFill>
                  <a:srgbClr val="333333"/>
                </a:solidFill>
              </a:rPr>
              <a:t> Improved </a:t>
            </a:r>
            <a:r>
              <a:rPr sz="1500" b="1">
                <a:solidFill>
                  <a:srgbClr val="5D4037"/>
                </a:solidFill>
              </a:rPr>
              <a:t>resource allocation</a:t>
            </a:r>
            <a:r>
              <a:rPr sz="1500" b="0">
                <a:solidFill>
                  <a:srgbClr val="333333"/>
                </a:solidFill>
              </a:rPr>
              <a:t> 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514940" y="6091821"/>
            <a:ext cx="171445" cy="149327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6553040" y="6328092"/>
            <a:ext cx="3410585" cy="27559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650"/>
              </a:spcAft>
            </a:pPr>
            <a:r>
              <a:rPr sz="1500" b="0">
                <a:solidFill>
                  <a:srgbClr val="333333"/>
                </a:solidFill>
              </a:rPr>
              <a:t> </a:t>
            </a:r>
            <a:r>
              <a:rPr sz="1500"/>
              <a:t>  </a:t>
            </a:r>
            <a:r>
              <a:rPr sz="1500" b="0">
                <a:solidFill>
                  <a:srgbClr val="333333"/>
                </a:solidFill>
              </a:rPr>
              <a:t> Foundation for </a:t>
            </a:r>
            <a:r>
              <a:rPr sz="1500" b="1">
                <a:solidFill>
                  <a:srgbClr val="5D4037"/>
                </a:solidFill>
              </a:rPr>
              <a:t>sustainable expansion</a:t>
            </a:r>
            <a:r>
              <a:rPr sz="1500" b="0">
                <a:solidFill>
                  <a:srgbClr val="333333"/>
                </a:solidFill>
              </a:rPr>
              <a:t> </a:t>
            </a:r>
            <a:endParaRPr sz="1500" b="0">
              <a:solidFill>
                <a:srgbClr val="333333"/>
              </a:solidFill>
            </a:endParaRPr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495890" y="5805436"/>
            <a:ext cx="171445" cy="14932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4.99992125984255,&quot;left&quot;:494.9875590551181,&quot;top&quot;:112.5,&quot;width&quot;:412.4896850393701}"/>
</p:tagLst>
</file>

<file path=ppt/tags/tag2.xml><?xml version="1.0" encoding="utf-8"?>
<p:tagLst xmlns:p="http://schemas.openxmlformats.org/presentationml/2006/main">
  <p:tag name="KSO_WM_DIAGRAM_VIRTUALLY_FRAME" val="{&quot;height&quot;:254.99992125984255,&quot;left&quot;:494.9875590551181,&quot;top&quot;:112.5,&quot;width&quot;:412.4896850393701}"/>
</p:tagLst>
</file>

<file path=ppt/tags/tag3.xml><?xml version="1.0" encoding="utf-8"?>
<p:tagLst xmlns:p="http://schemas.openxmlformats.org/presentationml/2006/main">
  <p:tag name="KSO_WM_DIAGRAM_VIRTUALLY_FRAME" val="{&quot;height&quot;:254.99992125984255,&quot;left&quot;:494.9875590551181,&quot;top&quot;:112.5,&quot;width&quot;:412.4896850393701}"/>
</p:tagLst>
</file>

<file path=ppt/tags/tag4.xml><?xml version="1.0" encoding="utf-8"?>
<p:tagLst xmlns:p="http://schemas.openxmlformats.org/presentationml/2006/main">
  <p:tag name="KSO_WM_DIAGRAM_VIRTUALLY_FRAME" val="{&quot;height&quot;:254.99992125984255,&quot;left&quot;:494.9875590551181,&quot;top&quot;:112.5,&quot;width&quot;:412.4896850393701}"/>
</p:tagLst>
</file>

<file path=ppt/tags/tag5.xml><?xml version="1.0" encoding="utf-8"?>
<p:tagLst xmlns:p="http://schemas.openxmlformats.org/presentationml/2006/main">
  <p:tag name="KSO_WM_DIAGRAM_VIRTUALLY_FRAME" val="{&quot;height&quot;:254.99992125984255,&quot;left&quot;:494.9875590551181,&quot;top&quot;:112.5,&quot;width&quot;:412.4896850393701}"/>
</p:tagLst>
</file>

<file path=ppt/tags/tag6.xml><?xml version="1.0" encoding="utf-8"?>
<p:tagLst xmlns:p="http://schemas.openxmlformats.org/presentationml/2006/main">
  <p:tag name="KSO_WM_DIAGRAM_VIRTUALLY_FRAME" val="{&quot;height&quot;:254.99992125984255,&quot;left&quot;:494.9875590551181,&quot;top&quot;:112.5,&quot;width&quot;:412.4896850393701}"/>
</p:tagLst>
</file>

<file path=ppt/tags/tag7.xml><?xml version="1.0" encoding="utf-8"?>
<p:tagLst xmlns:p="http://schemas.openxmlformats.org/presentationml/2006/main">
  <p:tag name="KSO_WM_DIAGRAM_VIRTUALLY_FRAME" val="{&quot;height&quot;:254.99992125984255,&quot;left&quot;:494.9875590551181,&quot;top&quot;:112.5,&quot;width&quot;:412.4896850393701}"/>
</p:tagLst>
</file>

<file path=ppt/tags/tag8.xml><?xml version="1.0" encoding="utf-8"?>
<p:tagLst xmlns:p="http://schemas.openxmlformats.org/presentationml/2006/main">
  <p:tag name="KSO_WM_DIAGRAM_VIRTUALLY_FRAME" val="{&quot;height&quot;:254.99992125984255,&quot;left&quot;:494.9875590551181,&quot;top&quot;:112.5,&quot;width&quot;:412.4896850393701}"/>
</p:tagLst>
</file>

<file path=ppt/tags/tag9.xml><?xml version="1.0" encoding="utf-8"?>
<p:tagLst xmlns:p="http://schemas.openxmlformats.org/presentationml/2006/main">
  <p:tag name="KSO_WM_DIAGRAM_VIRTUALLY_FRAME" val="{&quot;height&quot;:254.99992125984255,&quot;left&quot;:494.9875590551181,&quot;top&quot;:112.5,&quot;width&quot;:412.4896850393701}"/>
</p:tagLst>
</file>

<file path=ppt/tags/tag10.xml><?xml version="1.0" encoding="utf-8"?>
<p:tagLst xmlns:p="http://schemas.openxmlformats.org/presentationml/2006/main">
  <p:tag name="KSO_WM_DIAGRAM_VIRTUALLY_FRAME" val="{&quot;height&quot;:254.99992125984255,&quot;left&quot;:494.9875590551181,&quot;top&quot;:112.5,&quot;width&quot;:412.4896850393701}"/>
</p:tagLst>
</file>

<file path=ppt/tags/tag11.xml><?xml version="1.0" encoding="utf-8"?>
<p:tagLst xmlns:p="http://schemas.openxmlformats.org/presentationml/2006/main">
  <p:tag name="KSO_WM_DIAGRAM_VIRTUALLY_FRAME" val="{&quot;height&quot;:254.99992125984255,&quot;left&quot;:494.9875590551181,&quot;top&quot;:112.5,&quot;width&quot;:412.4896850393701}"/>
</p:tagLst>
</file>

<file path=ppt/tags/tag12.xml><?xml version="1.0" encoding="utf-8"?>
<p:tagLst xmlns:p="http://schemas.openxmlformats.org/presentationml/2006/main">
  <p:tag name="KSO_WM_DIAGRAM_VIRTUALLY_FRAME" val="{&quot;height&quot;:254.99992125984255,&quot;left&quot;:494.9875590551181,&quot;top&quot;:112.5,&quot;width&quot;:412.4896850393701}"/>
</p:tagLst>
</file>

<file path=ppt/tags/tag13.xml><?xml version="1.0" encoding="utf-8"?>
<p:tagLst xmlns:p="http://schemas.openxmlformats.org/presentationml/2006/main">
  <p:tag name="KSO_WM_DIAGRAM_VIRTUALLY_FRAME" val="{&quot;height&quot;:254.99992125984255,&quot;left&quot;:494.9875590551181,&quot;top&quot;:112.5,&quot;width&quot;:412.4896850393701}"/>
</p:tagLst>
</file>

<file path=ppt/tags/tag14.xml><?xml version="1.0" encoding="utf-8"?>
<p:tagLst xmlns:p="http://schemas.openxmlformats.org/presentationml/2006/main">
  <p:tag name="KSO_WM_DIAGRAM_VIRTUALLY_FRAME" val="{&quot;height&quot;:254.99992125984255,&quot;left&quot;:494.9875590551181,&quot;top&quot;:112.5,&quot;width&quot;:412.4896850393701}"/>
</p:tagLst>
</file>

<file path=ppt/tags/tag15.xml><?xml version="1.0" encoding="utf-8"?>
<p:tagLst xmlns:p="http://schemas.openxmlformats.org/presentationml/2006/main">
  <p:tag name="KSO_WM_DIAGRAM_VIRTUALLY_FRAME" val="{&quot;height&quot;:254.99992125984255,&quot;left&quot;:494.9875590551181,&quot;top&quot;:112.5,&quot;width&quot;:412.4896850393701}"/>
</p:tagLst>
</file>

<file path=ppt/tags/tag16.xml><?xml version="1.0" encoding="utf-8"?>
<p:tagLst xmlns:p="http://schemas.openxmlformats.org/presentationml/2006/main">
  <p:tag name="KSO_WM_DIAGRAM_VIRTUALLY_FRAME" val="{&quot;height&quot;:254.99992125984255,&quot;left&quot;:494.9875590551181,&quot;top&quot;:112.5,&quot;width&quot;:412.4896850393701}"/>
</p:tagLst>
</file>

<file path=ppt/tags/tag17.xml><?xml version="1.0" encoding="utf-8"?>
<p:tagLst xmlns:p="http://schemas.openxmlformats.org/presentationml/2006/main">
  <p:tag name="KSO_WM_DIAGRAM_VIRTUALLY_FRAME" val="{&quot;height&quot;:254.99992125984255,&quot;left&quot;:494.9875590551181,&quot;top&quot;:112.5,&quot;width&quot;:412.4896850393701}"/>
</p:tagLst>
</file>

<file path=ppt/tags/tag18.xml><?xml version="1.0" encoding="utf-8"?>
<p:tagLst xmlns:p="http://schemas.openxmlformats.org/presentationml/2006/main">
  <p:tag name="KSO_WM_DIAGRAM_VIRTUALLY_FRAME" val="{&quot;height&quot;:254.99992125984255,&quot;left&quot;:494.9875590551181,&quot;top&quot;:112.5,&quot;width&quot;:412.4896850393701}"/>
</p:tagLst>
</file>

<file path=ppt/tags/tag19.xml><?xml version="1.0" encoding="utf-8"?>
<p:tagLst xmlns:p="http://schemas.openxmlformats.org/presentationml/2006/main">
  <p:tag name="KSO_WM_DIAGRAM_VIRTUALLY_FRAME" val="{&quot;height&quot;:254.99992125984255,&quot;left&quot;:494.9875590551181,&quot;top&quot;:112.5,&quot;width&quot;:412.4896850393701}"/>
</p:tagLst>
</file>

<file path=ppt/tags/tag20.xml><?xml version="1.0" encoding="utf-8"?>
<p:tagLst xmlns:p="http://schemas.openxmlformats.org/presentationml/2006/main">
  <p:tag name="KSO_WM_DIAGRAM_VIRTUALLY_FRAME" val="{&quot;height&quot;:254.99992125984255,&quot;left&quot;:494.9875590551181,&quot;top&quot;:112.5,&quot;width&quot;:412.4896850393701}"/>
</p:tagLst>
</file>

<file path=ppt/tags/tag21.xml><?xml version="1.0" encoding="utf-8"?>
<p:tagLst xmlns:p="http://schemas.openxmlformats.org/presentationml/2006/main">
  <p:tag name="KSO_WM_DIAGRAM_VIRTUALLY_FRAME" val="{&quot;height&quot;:254.99992125984255,&quot;left&quot;:494.9875590551181,&quot;top&quot;:112.5,&quot;width&quot;:412.4896850393701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5918</Words>
  <Application>WPS Presentation</Application>
  <PresentationFormat>On-screen Show (4:3)</PresentationFormat>
  <Paragraphs>402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Vishal Kumar</cp:lastModifiedBy>
  <cp:revision>42</cp:revision>
  <dcterms:created xsi:type="dcterms:W3CDTF">2013-01-27T09:14:00Z</dcterms:created>
  <dcterms:modified xsi:type="dcterms:W3CDTF">2025-11-21T06:59:15Z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5AD8C6EE589F4C06846B148804310CBD_12</vt:lpwstr>
  </property>
  <property fmtid="{D5CDD505-2E9C-101B-9397-08002B2CF9AE}" pid="3" name="KSOProductBuildVer">
    <vt:lpwstr>2057-12.2.0.23149</vt:lpwstr>
  </property>
</Properties>
</file>